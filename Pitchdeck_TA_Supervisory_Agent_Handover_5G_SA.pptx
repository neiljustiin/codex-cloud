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1">
                <a:solidFill>
                  <a:srgbClr val="1EA4C1"/>
                </a:solidFill>
                <a:latin typeface="Aptos"/>
              </a:defRPr>
            </a:pPr>
            <a:r>
              <a:t>USULAN TOPIK CAPSTONE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7315200" cy="1691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Supervisory Agent</a:t>
            </a:r>
          </a:p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untuk Handover 5G 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29000"/>
            <a:ext cx="6400800" cy="10058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Perancangan dan evaluasi adaptasi parameter handover</a:t>
            </a:r>
          </a:p>
          <a:p>
            <a:pPr>
              <a:defRPr sz="1900" b="0">
                <a:solidFill>
                  <a:srgbClr val="FFFFFF"/>
                </a:solidFill>
                <a:latin typeface="Aptos"/>
              </a:defRPr>
            </a:pPr>
            <a:r>
              <a:t>pada testbed dua sel 5G Standalone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79" y="1481328"/>
            <a:ext cx="2240280" cy="393192"/>
          </a:xfrm>
          <a:prstGeom prst="roundRect">
            <a:avLst>
              <a:gd name="adj" fmla="val 12000"/>
            </a:avLst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214884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MASALAH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2468880"/>
            <a:ext cx="2057400" cy="393192"/>
          </a:xfrm>
          <a:prstGeom prst="roundRect">
            <a:avLst>
              <a:gd name="adj" fmla="val 12000"/>
            </a:avLst>
          </a:prstGeom>
          <a:solidFill>
            <a:srgbClr val="25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542032"/>
            <a:ext cx="196596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SOLUSI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456432"/>
            <a:ext cx="2423160" cy="393192"/>
          </a:xfrm>
          <a:prstGeom prst="roundRect">
            <a:avLst>
              <a:gd name="adj" fmla="val 12000"/>
            </a:avLst>
          </a:prstGeom>
          <a:solidFill>
            <a:srgbClr val="E9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529584"/>
            <a:ext cx="2331720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PENGUJIAN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81344"/>
            <a:ext cx="731520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300" b="0">
                <a:solidFill>
                  <a:srgbClr val="FFFFFF"/>
                </a:solidFill>
                <a:latin typeface="Aptos"/>
              </a:defRPr>
            </a:pPr>
            <a:r>
              <a:t>S1 Teknik Telekomunikasi  •  Proposal 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MASALAH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Koneksi harus tetap stabil saat pengguna berpindah 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Handover memindahkan koneksi UE dari sel A ke sel B ketika kualitas radio berubah.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02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39112"/>
            <a:ext cx="3474720" cy="2523744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39112"/>
            <a:ext cx="54864" cy="2523744"/>
          </a:xfrm>
          <a:prstGeom prst="rect">
            <a:avLst/>
          </a:prstGeom>
          <a:solidFill>
            <a:srgbClr val="E9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40280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E9914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212848"/>
            <a:ext cx="2468879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Terlalu lambat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43200"/>
            <a:ext cx="3017520" cy="168249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Sinyal sel asal sudah lemah; trafik dapat terganggu atau sambungan terputus.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039112"/>
            <a:ext cx="3474720" cy="2523744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2039112"/>
            <a:ext cx="54864" cy="2523744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240280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D62A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2212848"/>
            <a:ext cx="2468879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Terlalu cepat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2743200"/>
            <a:ext cx="3017520" cy="168249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UE berpindah sebelum perlu; jumlah handover bertambah.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2039112"/>
            <a:ext cx="3474720" cy="2523744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3296" y="2039112"/>
            <a:ext cx="54864" cy="2523744"/>
          </a:xfrm>
          <a:prstGeom prst="rect">
            <a:avLst/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2240280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EA4C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212848"/>
            <a:ext cx="2468879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Bolak-balik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743200"/>
            <a:ext cx="3017520" cy="1682495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Ping-pong A → B → A meningkatkan beban sinyal dan risiko gangguan.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047488"/>
            <a:ext cx="10936224" cy="713232"/>
          </a:xfrm>
          <a:prstGeom prst="roundRect">
            <a:avLst>
              <a:gd name="adj" fmla="val 12000"/>
            </a:avLst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266944"/>
            <a:ext cx="10469880" cy="2651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Pertanyaan inti: kapan parameter handover perlu disesuaikan agar keputusan tetap tepat?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KONTEKS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Aturan A3 bekerja, tetapi satu setelan belum tentu cocok di semua kondisi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Offset dan time-to-trigger (TTT) mengatur seberapa kuat dan berapa lama sel tetangga harus lebih baik.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03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57400"/>
            <a:ext cx="5166360" cy="306324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04288"/>
            <a:ext cx="43891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0E2A4B"/>
                </a:solidFill>
                <a:latin typeface="Aptos"/>
              </a:defRPr>
            </a:pPr>
            <a:r>
              <a:t>Parameter handover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9504"/>
            <a:ext cx="4572000" cy="109728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0">
                <a:solidFill>
                  <a:srgbClr val="203041"/>
                </a:solidFill>
                <a:latin typeface="Aptos"/>
              </a:defRPr>
            </a:pPr>
            <a:r>
              <a:t>Offset A3  →  ambang keunggulan sel tetangga</a:t>
            </a:r>
          </a:p>
          <a:p>
            <a:pPr>
              <a:defRPr sz="1800" b="0">
                <a:solidFill>
                  <a:srgbClr val="203041"/>
                </a:solidFill>
                <a:latin typeface="Aptos"/>
              </a:defRPr>
            </a:pPr>
            <a:r>
              <a:t>TTT  →  lama kondisi harus bertahan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057400"/>
            <a:ext cx="5440680" cy="306324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304288"/>
            <a:ext cx="43891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0E2A4B"/>
                </a:solidFill>
                <a:latin typeface="Aptos"/>
              </a:defRPr>
            </a:pPr>
            <a:r>
              <a:t>Tradeoff pengaturan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889504"/>
            <a:ext cx="4800600" cy="11430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0">
                <a:solidFill>
                  <a:srgbClr val="203041"/>
                </a:solidFill>
                <a:latin typeface="Aptos"/>
              </a:defRPr>
            </a:pPr>
            <a:r>
              <a:t>Lebih agresif  →  respons cepat, risiko ping-pong</a:t>
            </a:r>
          </a:p>
          <a:p>
            <a:pPr>
              <a:defRPr sz="1800" b="0">
                <a:solidFill>
                  <a:srgbClr val="203041"/>
                </a:solidFill>
                <a:latin typeface="Aptos"/>
              </a:defRPr>
            </a:pPr>
            <a:r>
              <a:t>Lebih konservatif  →  ping-pong turun, risiko terlambat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623560"/>
            <a:ext cx="1078992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1">
                <a:solidFill>
                  <a:srgbClr val="1D62A7"/>
                </a:solidFill>
                <a:latin typeface="Aptos"/>
              </a:defRPr>
            </a:pPr>
            <a:r>
              <a:t>Tujuan penelitian: menyesuaikan setelan secara terukur, bukan mengganti mekanisme handover 3GPP.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SOLUSI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Supervisory agent mengusulkan penyesuaian yang terkendali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Agen membaca ringkasan kondisi jaringan, memilih aksi terbatas, lalu sistem memvalidasinya.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04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48840"/>
            <a:ext cx="2615184" cy="251460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" y="2313432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86584"/>
            <a:ext cx="347472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88036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0E2A4B"/>
                </a:solidFill>
                <a:latin typeface="Aptos"/>
              </a:defRPr>
            </a:pPr>
            <a:r>
              <a:t>Telemetri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337560"/>
            <a:ext cx="2286000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RSRP, kejadian HO, ping-pong, RLF, trafik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3063240"/>
            <a:ext cx="28346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2200" b="1">
                <a:solidFill>
                  <a:srgbClr val="1D62A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02152" y="2148840"/>
            <a:ext cx="2615184" cy="251460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66744" y="2313432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2463" y="2386584"/>
            <a:ext cx="347472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288036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0E2A4B"/>
                </a:solidFill>
                <a:latin typeface="Aptos"/>
              </a:defRPr>
            </a:pPr>
            <a:r>
              <a:t>Agen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66744" y="3337560"/>
            <a:ext cx="2286000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Usulan offset/TTT dari pilihan yang disediakan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063240"/>
            <a:ext cx="28346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2200" b="1">
                <a:solidFill>
                  <a:srgbClr val="1D62A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9944" y="2148840"/>
            <a:ext cx="2615184" cy="251460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74536" y="2313432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2386584"/>
            <a:ext cx="347472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88036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0E2A4B"/>
                </a:solidFill>
                <a:latin typeface="Aptos"/>
              </a:defRPr>
            </a:pPr>
            <a:r>
              <a:t>Validator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337560"/>
            <a:ext cx="2286000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Cek rentang, syarat, dan batas perubahan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063240"/>
            <a:ext cx="283464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2200" b="1">
                <a:solidFill>
                  <a:srgbClr val="1D62A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17736" y="2148840"/>
            <a:ext cx="2615184" cy="251460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82328" y="2313432"/>
            <a:ext cx="438912" cy="393192"/>
          </a:xfrm>
          <a:prstGeom prst="roundRect">
            <a:avLst>
              <a:gd name="adj" fmla="val 12000"/>
            </a:avLst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8048" y="2386584"/>
            <a:ext cx="347472" cy="2011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880360"/>
            <a:ext cx="22860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800" b="1">
                <a:solidFill>
                  <a:srgbClr val="0E2A4B"/>
                </a:solidFill>
                <a:latin typeface="Aptos"/>
              </a:defRPr>
            </a:pPr>
            <a:r>
              <a:t>Jaringan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2328" y="3337560"/>
            <a:ext cx="2286000" cy="10515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Terapkan, pantau, dan rollback bila perlu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074920"/>
            <a:ext cx="11000232" cy="658368"/>
          </a:xfrm>
          <a:prstGeom prst="roundRect">
            <a:avLst>
              <a:gd name="adj" fmla="val 12000"/>
            </a:avLst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285232"/>
            <a:ext cx="1060704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Jika API gagal atau usulan tidak valid, konfigurasi baseline tetap digunakan.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RANCANGAN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Testbed dua sel menjadi tempat pengukuran dan evaluasi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Arsitektur akhir mengikuti dukungan handover dan antarmuka kontrol pada versi RAN yang digunakan.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05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50008"/>
            <a:ext cx="2148840" cy="1399032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560320"/>
            <a:ext cx="1819656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5G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035808"/>
            <a:ext cx="1819656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Open5GS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2350008"/>
            <a:ext cx="2148840" cy="1399032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2560320"/>
            <a:ext cx="1819656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RAN dua sel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3035808"/>
            <a:ext cx="1819656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srsRAN / OAI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0992" y="2350008"/>
            <a:ext cx="2148840" cy="1399032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15583" y="2560320"/>
            <a:ext cx="1819656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UE + trafik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5583" y="3035808"/>
            <a:ext cx="1819656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1 UE utama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2350008"/>
            <a:ext cx="3017520" cy="1399032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6" y="2560320"/>
            <a:ext cx="2688336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Supervisory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035808"/>
            <a:ext cx="2688336" cy="3200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Telemetri → usulan → validator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761488"/>
            <a:ext cx="4572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D62A7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2761488"/>
            <a:ext cx="4572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D62A7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761488"/>
            <a:ext cx="45720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000" b="1">
                <a:solidFill>
                  <a:srgbClr val="1D62A7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24528"/>
            <a:ext cx="10661904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1D6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407408"/>
            <a:ext cx="4023360" cy="29260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Prasyarat sebelum closed-loop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773168"/>
            <a:ext cx="9875520" cy="30175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Handover standar stabil  •  telemetri tersedia  •  parameter dapat diubah lewat jalur kontrol yang terverifikasi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ASPEK 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Tantangan utama ada pada integrasi dan pengendalian yang 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Rancangan dibatasi agar keputusan agen dapat diuji, dijelaskan, dan dibatalkan.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06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11680"/>
            <a:ext cx="5257800" cy="152704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11680"/>
            <a:ext cx="54864" cy="1527048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D62A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185416"/>
            <a:ext cx="42519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Kompatibilitas 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15768"/>
            <a:ext cx="4800600" cy="68579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Validasi dukungan dua sel, handover, pengukuran, dan kontrol parameter.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011680"/>
            <a:ext cx="5257800" cy="152704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011680"/>
            <a:ext cx="54864" cy="1527048"/>
          </a:xfrm>
          <a:prstGeom prst="rect">
            <a:avLst/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212848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EA4C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2185416"/>
            <a:ext cx="42519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Kualitas telemetri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15768"/>
            <a:ext cx="4800600" cy="68579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Sinkronisasi waktu dan definisi ping-pong/RLF yang konsisten.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767328"/>
            <a:ext cx="5257800" cy="152704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" y="3767328"/>
            <a:ext cx="54864" cy="1527048"/>
          </a:xfrm>
          <a:prstGeom prst="rect">
            <a:avLst/>
          </a:prstGeom>
          <a:solidFill>
            <a:srgbClr val="25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968496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258A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941064"/>
            <a:ext cx="42519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Keselamatan aksi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4471416"/>
            <a:ext cx="4800600" cy="68579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Ruang aksi terbatas, validator, rate limit, dan rollback.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767328"/>
            <a:ext cx="5257800" cy="152704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767328"/>
            <a:ext cx="54864" cy="1527048"/>
          </a:xfrm>
          <a:prstGeom prst="rect">
            <a:avLst/>
          </a:prstGeom>
          <a:solidFill>
            <a:srgbClr val="E99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3968496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E9914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6872" y="3941064"/>
            <a:ext cx="425196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Keterulangan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471416"/>
            <a:ext cx="4800600" cy="685799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Lintasan, beban trafik, UE, dan periode uji dibuat konsisten.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ASPEK NONTEKNIK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Keputusan teknis juga dipengaruhi biaya, data, dan operasional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Pertimbangan ini masuk ke desain eksperimen dan batas penerapan.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07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11680"/>
            <a:ext cx="3493008" cy="256032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11680"/>
            <a:ext cx="54864" cy="256032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12848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D62A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2" y="2185416"/>
            <a:ext cx="24871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Biaya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15768"/>
            <a:ext cx="3035808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API, perangkat radio, waktu lab, dan komputasi perlu dianggarkan.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011680"/>
            <a:ext cx="3493008" cy="256032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2011680"/>
            <a:ext cx="54864" cy="2560320"/>
          </a:xfrm>
          <a:prstGeom prst="rect">
            <a:avLst/>
          </a:prstGeom>
          <a:solidFill>
            <a:srgbClr val="1EA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1EA4C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7" y="2185416"/>
            <a:ext cx="24871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Privasi &amp; keamanan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715768"/>
            <a:ext cx="3035808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Kirim telemetri minimum; lindungi API key dan log pengujian.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2011680"/>
            <a:ext cx="3493008" cy="2560320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2011680"/>
            <a:ext cx="54864" cy="2560320"/>
          </a:xfrm>
          <a:prstGeom prst="rect">
            <a:avLst/>
          </a:prstGeom>
          <a:solidFill>
            <a:srgbClr val="258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0183" y="2212848"/>
            <a:ext cx="502920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258A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185416"/>
            <a:ext cx="2487168" cy="36576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Keandalan operasi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3" y="2715768"/>
            <a:ext cx="3035808" cy="17190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Saat API/lab bermasalah, sistem kembali ke konfigurasi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5029200"/>
            <a:ext cx="10972800" cy="676656"/>
          </a:xfrm>
          <a:prstGeom prst="roundRect">
            <a:avLst>
              <a:gd name="adj" fmla="val 12000"/>
            </a:avLst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239512"/>
            <a:ext cx="1056132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Manfaat yang diuji: koneksi lebih stabil tanpa biaya dan risiko operasional yang tidak proporsional.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RENCANA EVALUASI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Bandingkan baseline dan agen pada skenario yang 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Evaluasi kinerja jaringan dan perilaku agen secara terpisah.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08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93392"/>
            <a:ext cx="5257800" cy="3273552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67712"/>
            <a:ext cx="438912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0E2A4B"/>
                </a:solidFill>
                <a:latin typeface="Aptos"/>
              </a:defRPr>
            </a:pPr>
            <a:r>
              <a:t>Pembanding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4572000" cy="1645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0">
                <a:solidFill>
                  <a:srgbClr val="203041"/>
                </a:solidFill>
                <a:latin typeface="Aptos"/>
              </a:defRPr>
            </a:pPr>
            <a:r>
              <a:t>A  •  A3 statis yang dituning</a:t>
            </a:r>
          </a:p>
          <a:p>
            <a:pPr>
              <a:defRPr sz="1700" b="0">
                <a:solidFill>
                  <a:srgbClr val="203041"/>
                </a:solidFill>
                <a:latin typeface="Aptos"/>
              </a:defRPr>
            </a:pPr>
            <a:r>
              <a:t>B  •  rekomendasi supervisory agent</a:t>
            </a:r>
          </a:p>
          <a:p>
            <a:pPr>
              <a:defRPr sz="1700" b="0">
                <a:solidFill>
                  <a:srgbClr val="203041"/>
                </a:solidFill>
                <a:latin typeface="Aptos"/>
              </a:defRPr>
            </a:pPr>
            <a:r>
              <a:t>C  •  penerapan terbatas, jika jalur kontrol tersedia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93392"/>
            <a:ext cx="5257800" cy="3273552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267712"/>
            <a:ext cx="4389120" cy="34747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900" b="1">
                <a:solidFill>
                  <a:srgbClr val="0E2A4B"/>
                </a:solidFill>
                <a:latin typeface="Aptos"/>
              </a:defRPr>
            </a:pPr>
            <a:r>
              <a:t>Metrik utama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61488"/>
            <a:ext cx="4572000" cy="18288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0">
                <a:solidFill>
                  <a:srgbClr val="203041"/>
                </a:solidFill>
                <a:latin typeface="Aptos"/>
              </a:defRPr>
            </a:pPr>
            <a:r>
              <a:t>Jaringan: HO sukses/gagal, ping-pong, RLF, throughput, pemulihan trafik</a:t>
            </a:r>
          </a:p>
          <a:p>
            <a:pPr>
              <a:defRPr sz="1700" b="0">
                <a:solidFill>
                  <a:srgbClr val="203041"/>
                </a:solidFill>
                <a:latin typeface="Aptos"/>
              </a:defRPr>
            </a:pPr>
            <a:r>
              <a:t>Agen: validitas usulan, latensi, biaya API, rollback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660136"/>
            <a:ext cx="10789920" cy="31089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1">
                <a:solidFill>
                  <a:srgbClr val="1D62A7"/>
                </a:solidFill>
                <a:latin typeface="Aptos"/>
              </a:defRPr>
            </a:pPr>
            <a:r>
              <a:t>Klaim peningkatan hanya berdasarkan perubahan parameter yang benar-benar diterapkan dan terukur.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D6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100" b="1">
                <a:solidFill>
                  <a:srgbClr val="1D62A7"/>
                </a:solidFill>
                <a:latin typeface="Aptos"/>
              </a:defRPr>
            </a:pPr>
            <a: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9552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2900" b="1">
                <a:solidFill>
                  <a:srgbClr val="0E2A4B"/>
                </a:solidFill>
                <a:latin typeface="Aptos"/>
              </a:defRPr>
            </a:pPr>
            <a:r>
              <a:t>Target TA: agen pengawas yang berguna, terukur, dan layak diterapkan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11064240" cy="28346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637383"/>
                </a:solidFill>
                <a:latin typeface="Aptos"/>
              </a:defRPr>
            </a:pPr>
            <a:r>
              <a:t>Prioritas awal adalah membuktikan handover 5G SA berulang pada perangkat yang tersedia.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6400800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900" b="0">
                <a:solidFill>
                  <a:srgbClr val="637383"/>
                </a:solidFill>
                <a:latin typeface="Aptos"/>
              </a:defRPr>
            </a:pPr>
            <a:r>
              <a:t>TA Teknik Telekomunikasi  •  5G Standalone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556248"/>
            <a:ext cx="1078992" cy="16459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r">
              <a:defRPr sz="900" b="0">
                <a:solidFill>
                  <a:srgbClr val="637383"/>
                </a:solidFill>
                <a:latin typeface="Aptos"/>
              </a:defRPr>
            </a:pPr>
            <a:r>
              <a:t>09 / 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84248"/>
            <a:ext cx="3447288" cy="166420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249424"/>
            <a:ext cx="3035808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1. Buktikan testbed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779776"/>
            <a:ext cx="3035808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Attach, dua sel, handover, trafik.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984248"/>
            <a:ext cx="3447288" cy="166420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49424"/>
            <a:ext cx="3035808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2. Bangun agen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779776"/>
            <a:ext cx="3035808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Telemetri, ruang aksi, validator, fallback.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984248"/>
            <a:ext cx="3447288" cy="1664208"/>
          </a:xfrm>
          <a:prstGeom prst="roundRect">
            <a:avLst>
              <a:gd name="adj" fmla="val 12000"/>
            </a:avLst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2249424"/>
            <a:ext cx="3035808" cy="32918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700" b="1">
                <a:solidFill>
                  <a:srgbClr val="0E2A4B"/>
                </a:solidFill>
                <a:latin typeface="Aptos"/>
              </a:defRPr>
            </a:pPr>
            <a:r>
              <a:t>3. Ukur dampak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779776"/>
            <a:ext cx="3035808" cy="50292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400" b="0">
                <a:solidFill>
                  <a:srgbClr val="203041"/>
                </a:solidFill>
                <a:latin typeface="Aptos"/>
              </a:defRPr>
            </a:pPr>
            <a:r>
              <a:t>Bandingkan baseline dengan uji berulang.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743200" cy="25603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500" b="1">
                <a:solidFill>
                  <a:srgbClr val="1D62A7"/>
                </a:solidFill>
                <a:latin typeface="Aptos"/>
              </a:defRPr>
            </a:pPr>
            <a:r>
              <a:t>Rujukan inti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43984"/>
            <a:ext cx="10972800" cy="896112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defRPr sz="1000" b="0">
                <a:solidFill>
                  <a:srgbClr val="637383"/>
                </a:solidFill>
                <a:latin typeface="Aptos"/>
              </a:defRPr>
            </a:pPr>
            <a:r>
              <a:t>Mollel et al., IEEE Access (2021), DOI: 10.1109/ACCESS.2021.3067503</a:t>
            </a:r>
          </a:p>
          <a:p>
            <a:pPr>
              <a:defRPr sz="1000" b="0">
                <a:solidFill>
                  <a:srgbClr val="637383"/>
                </a:solidFill>
                <a:latin typeface="Aptos"/>
              </a:defRPr>
            </a:pPr>
            <a:r>
              <a:t>Polese et al., IEEE ComST (2023), DOI: 10.1109/COMST.2023.3239220</a:t>
            </a:r>
          </a:p>
          <a:p>
            <a:pPr>
              <a:defRPr sz="1000" b="0">
                <a:solidFill>
                  <a:srgbClr val="637383"/>
                </a:solidFill>
                <a:latin typeface="Aptos"/>
              </a:defRPr>
            </a:pPr>
            <a:r>
              <a:t>Dzaferagic et al., IEEE TNSM (2025), DOI: 10.1109/TNSM.2024.3468910</a:t>
            </a:r>
          </a:p>
          <a:p>
            <a:pPr>
              <a:defRPr sz="1000" b="0">
                <a:solidFill>
                  <a:srgbClr val="637383"/>
                </a:solidFill>
                <a:latin typeface="Aptos"/>
              </a:defRPr>
            </a:pPr>
            <a:r>
              <a:t>Wang et al., Frontiers of Computer Science (2024), DOI: 10.1007/s11704-024-40231-1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
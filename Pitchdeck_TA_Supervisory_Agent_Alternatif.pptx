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66760" y="0"/>
            <a:ext cx="3824935" cy="6858000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759952" y="941832"/>
            <a:ext cx="2587752" cy="2587752"/>
          </a:xfrm>
          <a:prstGeom prst="roundRect">
            <a:avLst>
              <a:gd name="adj" fmla="val 10000"/>
            </a:avLst>
          </a:prstGeom>
          <a:solidFill>
            <a:srgbClr val="C2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79408" y="1527048"/>
            <a:ext cx="2194560" cy="9144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defRPr sz="6100" b="1">
                <a:solidFill>
                  <a:srgbClr val="111F2B"/>
                </a:solidFill>
                <a:latin typeface="Aptos Display"/>
              </a:defRPr>
            </a:pPr>
            <a:r>
              <a:t>5G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7589520" cy="31546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Handover 5G</a:t>
            </a:r>
          </a:p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yang belajar</a:t>
            </a:r>
          </a:p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dari kondisi jaringan.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4736592"/>
            <a:ext cx="7132320" cy="8686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0">
                <a:solidFill>
                  <a:srgbClr val="C2ECDC"/>
                </a:solidFill>
                <a:latin typeface="Aptos"/>
              </a:defRPr>
            </a:pPr>
            <a:r>
              <a:t>Perancangan dan evaluasi supervisory agent untuk adaptasi parameter handover pada testbed 5G Standalone.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36208"/>
            <a:ext cx="7315200" cy="2560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 Display"/>
              </a:defRPr>
            </a:pPr>
            <a:r>
              <a:t>USULAN TUGAS AKHIR • TEKNIK TELEKOMUNIKASI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664" y="4279392"/>
            <a:ext cx="2907792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ptos Display"/>
              </a:defRPr>
            </a:pPr>
            <a:r>
              <a:t>DARI MASALAH</a:t>
            </a:r>
          </a:p>
          <a:p>
            <a:pPr>
              <a:defRPr sz="1500" b="1">
                <a:solidFill>
                  <a:srgbClr val="FFFFFF"/>
                </a:solidFill>
                <a:latin typeface="Aptos Display"/>
              </a:defRPr>
            </a:pPr>
            <a:r>
              <a:t>KE KEPUTUSAN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007A80"/>
                </a:solidFill>
                <a:latin typeface="Aptos Display"/>
              </a:defRPr>
            </a:pPr>
            <a:r>
              <a:t>MASALAH SEHARI-HARI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111F2B"/>
                </a:solidFill>
                <a:latin typeface="Aptos Display"/>
              </a:defRPr>
            </a:pPr>
            <a:r>
              <a:t>Satu perpindahan sel, tiga hasil yang mungkin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E6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5C6B6F"/>
                </a:solidFill>
                <a:latin typeface="Aptos"/>
              </a:defRPr>
            </a:pPr>
            <a:r>
              <a:t>02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75688"/>
            <a:ext cx="11045952" cy="45720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78408" y="1865376"/>
            <a:ext cx="493776" cy="493776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865376"/>
            <a:ext cx="493776" cy="493776"/>
          </a:xfrm>
          <a:prstGeom prst="roundRect">
            <a:avLst>
              <a:gd name="adj" fmla="val 10000"/>
            </a:avLst>
          </a:prstGeom>
          <a:solidFill>
            <a:srgbClr val="ED7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625328" y="1865376"/>
            <a:ext cx="493776" cy="493776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99616"/>
            <a:ext cx="109728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007A80"/>
                </a:solidFill>
                <a:latin typeface="Aptos Display"/>
              </a:defRPr>
            </a:pPr>
            <a:r>
              <a:t>SEL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1499616"/>
            <a:ext cx="18288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ED7158"/>
                </a:solidFill>
                <a:latin typeface="Aptos Display"/>
              </a:defRPr>
            </a:pPr>
            <a:r>
              <a:t>TITIK PINDAH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59568" y="1499616"/>
            <a:ext cx="109728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007A80"/>
                </a:solidFill>
                <a:latin typeface="Aptos Display"/>
              </a:defRPr>
            </a:pPr>
            <a:r>
              <a:t>SEL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752344"/>
            <a:ext cx="3346704" cy="22311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752344"/>
            <a:ext cx="3346704" cy="91440"/>
          </a:xfrm>
          <a:prstGeom prst="rect">
            <a:avLst/>
          </a:prstGeom>
          <a:solidFill>
            <a:srgbClr val="EFB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2971800"/>
            <a:ext cx="658368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EFBF5D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3511296"/>
            <a:ext cx="2944368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900" b="1">
                <a:solidFill>
                  <a:srgbClr val="111F2B"/>
                </a:solidFill>
                <a:latin typeface="Aptos Display"/>
              </a:defRPr>
            </a:pPr>
            <a:r>
              <a:t>Terlambat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050791"/>
            <a:ext cx="2889504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Sinyal asal melemah; trafik terputus.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2752344"/>
            <a:ext cx="3346704" cy="22311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16552" y="2752344"/>
            <a:ext cx="3346704" cy="91440"/>
          </a:xfrm>
          <a:prstGeom prst="rect">
            <a:avLst/>
          </a:prstGeom>
          <a:solidFill>
            <a:srgbClr val="ED7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2971800"/>
            <a:ext cx="658368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ED7158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3511296"/>
            <a:ext cx="2944368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900" b="1">
                <a:solidFill>
                  <a:srgbClr val="111F2B"/>
                </a:solidFill>
                <a:latin typeface="Aptos Display"/>
              </a:defRPr>
            </a:pPr>
            <a:r>
              <a:t>Terlalu sering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4050791"/>
            <a:ext cx="2889504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UE bolak-balik: ping-pong A–B–A.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752344"/>
            <a:ext cx="3346704" cy="22311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4736" y="2752344"/>
            <a:ext cx="3346704" cy="91440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5" y="2971800"/>
            <a:ext cx="658368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007A80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5" y="3511296"/>
            <a:ext cx="2944368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900" b="1">
                <a:solidFill>
                  <a:srgbClr val="111F2B"/>
                </a:solidFill>
                <a:latin typeface="Aptos Display"/>
              </a:defRPr>
            </a:pPr>
            <a:r>
              <a:t>Tepat waktu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050791"/>
            <a:ext cx="2889504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Layanan tetap stabil saat berpindah.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705856"/>
            <a:ext cx="10881360" cy="31089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700" b="1">
                <a:solidFill>
                  <a:srgbClr val="111F2B"/>
                </a:solidFill>
                <a:latin typeface="Aptos Display"/>
              </a:defRPr>
            </a:pPr>
            <a:r>
              <a:t>Pertanyaan penelitian: bagaimana menjaga lebih banyak handover berada pada skenario ketiga?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C2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C2ECDC"/>
                </a:solidFill>
                <a:latin typeface="Aptos Display"/>
              </a:defRPr>
            </a:pPr>
            <a:r>
              <a:t>MENGAPA TERJADI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Dua pengatur kecil menciptakan tradeoff besar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5C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C2ECDC"/>
                </a:solidFill>
                <a:latin typeface="Aptos"/>
              </a:defRPr>
            </a:pPr>
            <a:r>
              <a:t>03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4389120" cy="393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700" b="1">
                <a:solidFill>
                  <a:srgbClr val="C2ECDC"/>
                </a:solidFill>
                <a:latin typeface="Aptos Display"/>
              </a:defRPr>
            </a:pPr>
            <a:r>
              <a:t>A3 OFFSET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1384" y="2002536"/>
            <a:ext cx="4297680" cy="393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700" b="1">
                <a:solidFill>
                  <a:srgbClr val="C2ECDC"/>
                </a:solidFill>
                <a:latin typeface="Aptos Display"/>
              </a:defRPr>
            </a:pPr>
            <a:r>
              <a:t>TIME TO TRIGGER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4974336" cy="118872"/>
          </a:xfrm>
          <a:prstGeom prst="rect">
            <a:avLst/>
          </a:prstGeom>
          <a:solidFill>
            <a:srgbClr val="5C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2231136" cy="118872"/>
          </a:xfrm>
          <a:prstGeom prst="rect">
            <a:avLst/>
          </a:prstGeom>
          <a:solidFill>
            <a:srgbClr val="ED7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80" y="2450592"/>
            <a:ext cx="365760" cy="429768"/>
          </a:xfrm>
          <a:prstGeom prst="roundRect">
            <a:avLst>
              <a:gd name="adj" fmla="val 10000"/>
            </a:avLst>
          </a:prstGeom>
          <a:solidFill>
            <a:srgbClr val="EFB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606040"/>
            <a:ext cx="4974336" cy="118872"/>
          </a:xfrm>
          <a:prstGeom prst="rect">
            <a:avLst/>
          </a:prstGeom>
          <a:solidFill>
            <a:srgbClr val="5C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2606040"/>
            <a:ext cx="3419856" cy="118872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738360" y="2450592"/>
            <a:ext cx="365760" cy="429768"/>
          </a:xfrm>
          <a:prstGeom prst="roundRect">
            <a:avLst>
              <a:gd name="adj" fmla="val 10000"/>
            </a:avLst>
          </a:prstGeom>
          <a:solidFill>
            <a:srgbClr val="EFB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45536"/>
            <a:ext cx="4754880" cy="43891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t>Seberapa unggul sel tetangga?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45536"/>
            <a:ext cx="4754880" cy="43891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t>Berapa lama keunggulan bertahan?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70248"/>
            <a:ext cx="10808208" cy="1207008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17136"/>
            <a:ext cx="219456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ED7158"/>
                </a:solidFill>
                <a:latin typeface="Aptos Display"/>
              </a:defRPr>
            </a:pPr>
            <a:r>
              <a:t>Lebih agresif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28616"/>
            <a:ext cx="448056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FFFFFF"/>
                </a:solidFill>
                <a:latin typeface="Aptos"/>
              </a:defRPr>
            </a:pPr>
            <a:r>
              <a:t>respons cepat  •  ping-pong dapat naik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17136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C2ECDC"/>
                </a:solidFill>
                <a:latin typeface="Aptos Display"/>
              </a:defRPr>
            </a:pPr>
            <a:r>
              <a:t>Lebih konservatif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928616"/>
            <a:ext cx="4754880" cy="29260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FFFFFF"/>
                </a:solidFill>
                <a:latin typeface="Aptos"/>
              </a:defRPr>
            </a:pPr>
            <a:r>
              <a:t>ping-pong turun  •  handover dapat terlambat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007A80"/>
                </a:solidFill>
                <a:latin typeface="Aptos Display"/>
              </a:defRPr>
            </a:pPr>
            <a:r>
              <a:t>HIPOTESIS SOLUSI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111F2B"/>
                </a:solidFill>
                <a:latin typeface="Aptos Display"/>
              </a:defRPr>
            </a:pPr>
            <a:r>
              <a:t>Agen pengawas menyesuaikan setelan saat konteks berubah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E6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5C6B6F"/>
                </a:solidFill>
                <a:latin typeface="Aptos"/>
              </a:defRPr>
            </a:pPr>
            <a:r>
              <a:t>04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12848"/>
            <a:ext cx="10844784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" y="2496312"/>
            <a:ext cx="530352" cy="393192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69464"/>
            <a:ext cx="438912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36392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Amati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85032"/>
            <a:ext cx="2249424" cy="51206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Ringkas telemetri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2496312"/>
            <a:ext cx="530352" cy="393192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59" y="2569464"/>
            <a:ext cx="438912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136392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Usulkan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685032"/>
            <a:ext cx="2249424" cy="51206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Pilih offset / TTT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6248" y="2496312"/>
            <a:ext cx="530352" cy="393192"/>
          </a:xfrm>
          <a:prstGeom prst="roundRect">
            <a:avLst>
              <a:gd name="adj" fmla="val 10000"/>
            </a:avLst>
          </a:prstGeom>
          <a:solidFill>
            <a:srgbClr val="ED7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569464"/>
            <a:ext cx="438912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136392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Validasi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85032"/>
            <a:ext cx="2249424" cy="51206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Cek batas aman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2496312"/>
            <a:ext cx="530352" cy="393192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2569464"/>
            <a:ext cx="438912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136392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Pantau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3685032"/>
            <a:ext cx="2249424" cy="51206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Ukur dan rollback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6976" y="3218688"/>
            <a:ext cx="347472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200" b="1">
                <a:solidFill>
                  <a:srgbClr val="007A80"/>
                </a:solidFill>
                <a:latin typeface="Aptos Display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4184" y="3218688"/>
            <a:ext cx="347472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200" b="1">
                <a:solidFill>
                  <a:srgbClr val="007A80"/>
                </a:solidFill>
                <a:latin typeface="Aptos Display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384" y="3218688"/>
            <a:ext cx="347472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200" b="1">
                <a:solidFill>
                  <a:srgbClr val="007A80"/>
                </a:solidFill>
                <a:latin typeface="Aptos Display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5321808"/>
            <a:ext cx="10698480" cy="43891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111F2B"/>
                </a:solidFill>
                <a:latin typeface="Aptos Display"/>
              </a:defRPr>
            </a:pPr>
            <a:r>
              <a:t>Agen beroperasi pada loop pengawasan, bukan pada setiap kejadian handover.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C2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C2ECDC"/>
                </a:solidFill>
                <a:latin typeface="Aptos Display"/>
              </a:defRPr>
            </a:pPr>
            <a:r>
              <a:t>RANCANGAN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Empat komponen yang harus bekerja bersama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5C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C2ECDC"/>
                </a:solidFill>
                <a:latin typeface="Aptos"/>
              </a:defRPr>
            </a:pPr>
            <a:r>
              <a:t>05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167128"/>
            <a:ext cx="2395728" cy="2350008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2167128"/>
            <a:ext cx="2395728" cy="118872"/>
          </a:xfrm>
          <a:prstGeom prst="rect">
            <a:avLst/>
          </a:prstGeom>
          <a:solidFill>
            <a:srgbClr val="C2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487168"/>
            <a:ext cx="20574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C2ECDC"/>
                </a:solidFill>
                <a:latin typeface="Aptos Display"/>
              </a:defRPr>
            </a:pPr>
            <a:r>
              <a:t>CORE 5G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82112"/>
            <a:ext cx="2066543" cy="7589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Open5GS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167128"/>
            <a:ext cx="2395728" cy="2350008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2167128"/>
            <a:ext cx="2395728" cy="118872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487168"/>
            <a:ext cx="20574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007A80"/>
                </a:solidFill>
                <a:latin typeface="Aptos Display"/>
              </a:defRPr>
            </a:pPr>
            <a:r>
              <a:t>RADIO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3182112"/>
            <a:ext cx="2066543" cy="7589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Dua sel RAN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167128"/>
            <a:ext cx="2395728" cy="2350008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2167128"/>
            <a:ext cx="2395728" cy="118872"/>
          </a:xfrm>
          <a:prstGeom prst="rect">
            <a:avLst/>
          </a:prstGeom>
          <a:solidFill>
            <a:srgbClr val="EFB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487168"/>
            <a:ext cx="20574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EFBF5D"/>
                </a:solidFill>
                <a:latin typeface="Aptos Display"/>
              </a:defRPr>
            </a:pPr>
            <a:r>
              <a:t>PENGGUNA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82112"/>
            <a:ext cx="2066543" cy="7589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UE + trafik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0576" y="2167128"/>
            <a:ext cx="2395728" cy="2350008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0576" y="2167128"/>
            <a:ext cx="2395728" cy="118872"/>
          </a:xfrm>
          <a:prstGeom prst="rect">
            <a:avLst/>
          </a:prstGeom>
          <a:solidFill>
            <a:srgbClr val="ED7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5167" y="2487168"/>
            <a:ext cx="20574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200" b="1">
                <a:solidFill>
                  <a:srgbClr val="ED7158"/>
                </a:solidFill>
                <a:latin typeface="Aptos Display"/>
              </a:defRPr>
            </a:pPr>
            <a:r>
              <a:t>PENGAWAS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5167" y="3182112"/>
            <a:ext cx="2066543" cy="7589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Agent + validator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108960"/>
            <a:ext cx="338328" cy="43891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C2ECDC"/>
                </a:solidFill>
                <a:latin typeface="Aptos Display"/>
              </a:defRPr>
            </a:pPr>
            <a:r>
              <a:t>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3108960"/>
            <a:ext cx="338328" cy="43891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C2ECDC"/>
                </a:solidFill>
                <a:latin typeface="Aptos Display"/>
              </a:defRPr>
            </a:pPr>
            <a:r>
              <a:t>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3108960"/>
            <a:ext cx="338328" cy="43891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C2ECDC"/>
                </a:solidFill>
                <a:latin typeface="Aptos Display"/>
              </a:defRPr>
            </a:pPr>
            <a:r>
              <a:t>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5102352"/>
            <a:ext cx="10954512" cy="594360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276088"/>
            <a:ext cx="105156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ptos Display"/>
              </a:defRPr>
            </a:pPr>
            <a:r>
              <a:t>Gerbang kelayakan: handover standar stabil → telemetri tersedia → jalur kontrol parameter terverifikasi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007A80"/>
                </a:solidFill>
                <a:latin typeface="Aptos Display"/>
              </a:defRPr>
            </a:pPr>
            <a:r>
              <a:t>ASPEK TEKNIK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111F2B"/>
                </a:solidFill>
                <a:latin typeface="Aptos Display"/>
              </a:defRPr>
            </a:pPr>
            <a:r>
              <a:t>Keberhasilan TA ditentukan oleh empat bukti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E6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5C6B6F"/>
                </a:solidFill>
                <a:latin typeface="Aptos"/>
              </a:defRPr>
            </a:pPr>
            <a:r>
              <a:t>06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02536"/>
            <a:ext cx="5148072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203704"/>
            <a:ext cx="594360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007A80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185416"/>
            <a:ext cx="4133087" cy="34747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111F2B"/>
                </a:solidFill>
                <a:latin typeface="Aptos Display"/>
              </a:defRPr>
            </a:pPr>
            <a:r>
              <a:t>Handover berulang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2642615"/>
            <a:ext cx="4041648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400" b="0">
                <a:solidFill>
                  <a:srgbClr val="5C6B6F"/>
                </a:solidFill>
                <a:latin typeface="Aptos"/>
              </a:defRPr>
            </a:pPr>
            <a:r>
              <a:t>Dua sel dan UE target mampu berpindah dengan log yang jelas.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002536"/>
            <a:ext cx="5148072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203704"/>
            <a:ext cx="594360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007A80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1736" y="2185416"/>
            <a:ext cx="4133087" cy="34747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111F2B"/>
                </a:solidFill>
                <a:latin typeface="Aptos Display"/>
              </a:defRPr>
            </a:pPr>
            <a:r>
              <a:t>Data dapat dipercaya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1736" y="2642615"/>
            <a:ext cx="4041648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400" b="0">
                <a:solidFill>
                  <a:srgbClr val="5C6B6F"/>
                </a:solidFill>
                <a:latin typeface="Aptos"/>
              </a:defRPr>
            </a:pPr>
            <a:r>
              <a:t>Definisi ping-pong, RLF, dan waktu trafik konsisten.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85032"/>
            <a:ext cx="5148072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886200"/>
            <a:ext cx="594360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007A80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867912"/>
            <a:ext cx="4133087" cy="34747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111F2B"/>
                </a:solidFill>
                <a:latin typeface="Aptos Display"/>
              </a:defRPr>
            </a:pPr>
            <a:r>
              <a:t>Aksi aman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325112"/>
            <a:ext cx="4041648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400" b="0">
                <a:solidFill>
                  <a:srgbClr val="5C6B6F"/>
                </a:solidFill>
                <a:latin typeface="Aptos"/>
              </a:defRPr>
            </a:pPr>
            <a:r>
              <a:t>Ruang pilihan, validator, fallback, dan rollback bekerja.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685032"/>
            <a:ext cx="5148072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3886200"/>
            <a:ext cx="594360" cy="38404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007A80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1736" y="3867912"/>
            <a:ext cx="4133087" cy="34747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111F2B"/>
                </a:solidFill>
                <a:latin typeface="Aptos Display"/>
              </a:defRPr>
            </a:pPr>
            <a:r>
              <a:t>Efek terukur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4325112"/>
            <a:ext cx="4041648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400" b="0">
                <a:solidFill>
                  <a:srgbClr val="5C6B6F"/>
                </a:solidFill>
                <a:latin typeface="Aptos"/>
              </a:defRPr>
            </a:pPr>
            <a:r>
              <a:t>Perbandingan dilakukan pada skenario yang sama dan berulang.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007A80"/>
                </a:solidFill>
                <a:latin typeface="Aptos Display"/>
              </a:defRPr>
            </a:pPr>
            <a:r>
              <a:t>ASPEK NONTEKNIK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111F2B"/>
                </a:solidFill>
                <a:latin typeface="Aptos Display"/>
              </a:defRPr>
            </a:pPr>
            <a:r>
              <a:t>Kelayakan juga bergantung pada biaya dan tata kelola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E6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5C6B6F"/>
                </a:solidFill>
                <a:latin typeface="Aptos"/>
              </a:defRPr>
            </a:pPr>
            <a:r>
              <a:t>07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5138928" cy="1472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109728" cy="1472184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85415"/>
            <a:ext cx="44805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Biaya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724912"/>
            <a:ext cx="4507992" cy="521207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Batasi frekuensi panggilan dan catat biaya.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1965960"/>
            <a:ext cx="5138928" cy="1472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1" y="1965960"/>
            <a:ext cx="109728" cy="1472184"/>
          </a:xfrm>
          <a:prstGeom prst="rect">
            <a:avLst/>
          </a:prstGeom>
          <a:solidFill>
            <a:srgbClr val="EFB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5" y="2185415"/>
            <a:ext cx="44805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Privasi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5" y="2724912"/>
            <a:ext cx="4507992" cy="521207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Kirim telemetri minimum yang diperlukan.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85031"/>
            <a:ext cx="5138928" cy="1472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685031"/>
            <a:ext cx="109728" cy="1472184"/>
          </a:xfrm>
          <a:prstGeom prst="rect">
            <a:avLst/>
          </a:prstGeom>
          <a:solidFill>
            <a:srgbClr val="ED7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04487"/>
            <a:ext cx="44805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Ketergantungan 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443983"/>
            <a:ext cx="4507992" cy="521207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Gunakan konfigurasi baseline saat layanan gagal.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1" y="3685031"/>
            <a:ext cx="5138928" cy="1472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1" y="3685031"/>
            <a:ext cx="109728" cy="1472184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5" y="3904487"/>
            <a:ext cx="448056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000" b="1">
                <a:solidFill>
                  <a:srgbClr val="111F2B"/>
                </a:solidFill>
                <a:latin typeface="Aptos Display"/>
              </a:defRPr>
            </a:pPr>
            <a:r>
              <a:t>Kapasitas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5" y="4443983"/>
            <a:ext cx="4507992" cy="521207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5C6B6F"/>
                </a:solidFill>
                <a:latin typeface="Aptos"/>
              </a:defRPr>
            </a:pPr>
            <a:r>
              <a:t>Jadwalkan perangkat, lintasan, dan UE secara konsisten.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C2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C2ECDC"/>
                </a:solidFill>
                <a:latin typeface="Aptos Display"/>
              </a:defRPr>
            </a:pPr>
            <a:r>
              <a:t>EVALUASI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Ukur dampak jaringan dan perilaku agen secara terpisah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5C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C2ECDC"/>
                </a:solidFill>
                <a:latin typeface="Aptos"/>
              </a:defRPr>
            </a:pPr>
            <a:r>
              <a:t>08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02536"/>
            <a:ext cx="5230368" cy="3191256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2002536"/>
            <a:ext cx="5230368" cy="3191256"/>
          </a:xfrm>
          <a:prstGeom prst="roundRect">
            <a:avLst>
              <a:gd name="adj" fmla="val 10000"/>
            </a:avLst>
          </a:prstGeom>
          <a:solidFill>
            <a:srgbClr val="233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92024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200" b="1">
                <a:solidFill>
                  <a:srgbClr val="C2ECDC"/>
                </a:solidFill>
                <a:latin typeface="Aptos Display"/>
              </a:defRPr>
            </a:pPr>
            <a:r>
              <a:t>A /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98648"/>
            <a:ext cx="4562856" cy="10515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 Display"/>
              </a:defRPr>
            </a:pPr>
            <a:r>
              <a:t>Baseline A3 statis</a:t>
            </a:r>
          </a:p>
          <a:p>
            <a:pPr>
              <a:defRPr sz="2300" b="1">
                <a:solidFill>
                  <a:srgbClr val="FFFFFF"/>
                </a:solidFill>
                <a:latin typeface="Aptos Display"/>
              </a:defRPr>
            </a:pPr>
            <a:r>
              <a:t>vs. supervisory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71416"/>
            <a:ext cx="4480560" cy="31089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C2ECDC"/>
                </a:solidFill>
                <a:latin typeface="Aptos"/>
              </a:defRPr>
            </a:pPr>
            <a:r>
              <a:t>Skenario, UE, dan trafik dibuat sama.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258568"/>
            <a:ext cx="3566160" cy="393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800" b="1">
                <a:solidFill>
                  <a:srgbClr val="EFBF5D"/>
                </a:solidFill>
                <a:latin typeface="Aptos Display"/>
              </a:defRPr>
            </a:pPr>
            <a:r>
              <a:t>DUA LENSA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788920"/>
            <a:ext cx="19202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Aptos Display"/>
              </a:defRPr>
            </a:pPr>
            <a:r>
              <a:t>Jaringan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3227832"/>
            <a:ext cx="4553712" cy="7040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C2ECDC"/>
                </a:solidFill>
                <a:latin typeface="Aptos"/>
              </a:defRPr>
            </a:pPr>
            <a:r>
              <a:t>HO sukses/gagal  •  ping-pong  •  RLF</a:t>
            </a:r>
          </a:p>
          <a:p>
            <a:pPr>
              <a:defRPr sz="1500" b="0">
                <a:solidFill>
                  <a:srgbClr val="C2ECDC"/>
                </a:solidFill>
                <a:latin typeface="Aptos"/>
              </a:defRPr>
            </a:pPr>
            <a:r>
              <a:t>throughput  •  pemulihan trafik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096512"/>
            <a:ext cx="19202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Aptos Display"/>
              </a:defRPr>
            </a:pPr>
            <a:r>
              <a:t>Agen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4535424"/>
            <a:ext cx="4590288" cy="4846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500" b="0">
                <a:solidFill>
                  <a:srgbClr val="C2ECDC"/>
                </a:solidFill>
                <a:latin typeface="Aptos"/>
              </a:defRPr>
            </a:pPr>
            <a:r>
              <a:t>validitas usulan  •  latensi  •  biaya  •  rollback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5669280"/>
            <a:ext cx="10780776" cy="34747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 Display"/>
              </a:defRPr>
            </a:pPr>
            <a:r>
              <a:t>Jika kontrol dinamis belum tersedia, evaluasi dibatasi pada rekomendasi offline.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100584" cy="201168"/>
          </a:xfrm>
          <a:prstGeom prst="rect">
            <a:avLst/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29768"/>
            <a:ext cx="7315200" cy="23774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1">
                <a:solidFill>
                  <a:srgbClr val="007A80"/>
                </a:solidFill>
                <a:latin typeface="Aptos Display"/>
              </a:defRPr>
            </a:pPr>
            <a: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804672"/>
            <a:ext cx="11137392" cy="9509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000" b="1">
                <a:solidFill>
                  <a:srgbClr val="111F2B"/>
                </a:solidFill>
                <a:latin typeface="Aptos Display"/>
              </a:defRPr>
            </a:pPr>
            <a:r>
              <a:t>Dari keputusan reaktif menuju pengawasan yang terukur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6492240"/>
            <a:ext cx="11173968" cy="13716"/>
          </a:xfrm>
          <a:prstGeom prst="rect">
            <a:avLst/>
          </a:prstGeom>
          <a:solidFill>
            <a:srgbClr val="E6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43032" y="6556248"/>
            <a:ext cx="1115568" cy="1828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r">
              <a:defRPr sz="900" b="0">
                <a:solidFill>
                  <a:srgbClr val="5C6B6F"/>
                </a:solidFill>
                <a:latin typeface="Aptos"/>
              </a:defRPr>
            </a:pPr>
            <a:r>
              <a:t>09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1097280" cy="64922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300" b="1">
                <a:solidFill>
                  <a:srgbClr val="007A80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0552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111F2B"/>
                </a:solidFill>
                <a:latin typeface="Aptos Display"/>
              </a:defRPr>
            </a:pPr>
            <a:r>
              <a:t>Buktikan testbed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66543"/>
            <a:ext cx="1097280" cy="64922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300" b="1">
                <a:solidFill>
                  <a:srgbClr val="007A80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2130552"/>
            <a:ext cx="301752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111F2B"/>
                </a:solidFill>
                <a:latin typeface="Aptos Display"/>
              </a:defRPr>
            </a:pPr>
            <a:r>
              <a:t>Bangun agen 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66543"/>
            <a:ext cx="1097280" cy="64922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3300" b="1">
                <a:solidFill>
                  <a:srgbClr val="007A80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2130552"/>
            <a:ext cx="24688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2100" b="1">
                <a:solidFill>
                  <a:srgbClr val="111F2B"/>
                </a:solidFill>
                <a:latin typeface="Aptos Display"/>
              </a:defRPr>
            </a:pPr>
            <a:r>
              <a:t>Ukur dampak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54096"/>
            <a:ext cx="10872216" cy="832104"/>
          </a:xfrm>
          <a:prstGeom prst="roundRect">
            <a:avLst>
              <a:gd name="adj" fmla="val 10000"/>
            </a:avLst>
          </a:prstGeom>
          <a:solidFill>
            <a:srgbClr val="00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273552"/>
            <a:ext cx="10378440" cy="39319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 Display"/>
              </a:defRPr>
            </a:pPr>
            <a:r>
              <a:t>Kontribusi: metode adaptasi parameter handover yang memiliki batas aksi, bukti kinerja, dan batas penerapan.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07408"/>
            <a:ext cx="3017520" cy="31089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600" b="1">
                <a:solidFill>
                  <a:srgbClr val="111F2B"/>
                </a:solidFill>
                <a:latin typeface="Aptos Display"/>
              </a:defRPr>
            </a:pPr>
            <a:r>
              <a:t>Rujukan ilmiah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809744"/>
            <a:ext cx="10424160" cy="1060704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defRPr sz="1100" b="0">
                <a:solidFill>
                  <a:srgbClr val="5C6B6F"/>
                </a:solidFill>
                <a:latin typeface="Aptos"/>
              </a:defRPr>
            </a:pPr>
            <a:r>
              <a:t>Mollel et al., IEEE Access (2021)  •  10.1109/ACCESS.2021.3067503</a:t>
            </a:r>
          </a:p>
          <a:p>
            <a:pPr>
              <a:defRPr sz="1100" b="0">
                <a:solidFill>
                  <a:srgbClr val="5C6B6F"/>
                </a:solidFill>
                <a:latin typeface="Aptos"/>
              </a:defRPr>
            </a:pPr>
            <a:r>
              <a:t>Polese et al., IEEE ComST (2023)  •  10.1109/COMST.2023.3239220</a:t>
            </a:r>
          </a:p>
          <a:p>
            <a:pPr>
              <a:defRPr sz="1100" b="0">
                <a:solidFill>
                  <a:srgbClr val="5C6B6F"/>
                </a:solidFill>
                <a:latin typeface="Aptos"/>
              </a:defRPr>
            </a:pPr>
            <a:r>
              <a:t>Dzaferagic et al., IEEE TNSM (2025)  •  10.1109/TNSM.2024.3468910</a:t>
            </a:r>
          </a:p>
          <a:p>
            <a:pPr>
              <a:defRPr sz="1100" b="0">
                <a:solidFill>
                  <a:srgbClr val="5C6B6F"/>
                </a:solidFill>
                <a:latin typeface="Aptos"/>
              </a:defRPr>
            </a:pPr>
            <a:r>
              <a:t>Wang et al., Frontiers of Computer Science (2024)  •  10.1007/s11704-024-40231-1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
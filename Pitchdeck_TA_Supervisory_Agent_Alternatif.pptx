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66760" y="0"/>
            <a:ext cx="3824935" cy="6858000"/>
          </a:xfrm>
          <a:prstGeom prst="rect">
            <a:avLst/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59952" y="941832"/>
            <a:ext cx="2587752" cy="2587752"/>
          </a:xfrm>
          <a:prstGeom prst="roundRect">
            <a:avLst>
              <a:gd name="adj" fmla="val 10000"/>
            </a:avLst>
          </a:prstGeom>
          <a:solidFill>
            <a:srgbClr val="C2E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79408" y="1527048"/>
            <a:ext cx="2194560" cy="9144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defRPr sz="6100" b="1">
                <a:solidFill>
                  <a:srgbClr val="111F2B"/>
                </a:solidFill>
                <a:latin typeface="Aptos Display"/>
              </a:defRPr>
            </a:pPr>
            <a:r>
              <a:t>5G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7589520" cy="31546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Handover 5G</a:t>
            </a:r>
          </a:p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yang belajar</a:t>
            </a:r>
          </a:p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dari kondisi jaringan.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4736592"/>
            <a:ext cx="7132320" cy="8686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800" b="0">
                <a:solidFill>
                  <a:srgbClr val="C2ECDC"/>
                </a:solidFill>
                <a:latin typeface="Aptos"/>
              </a:defRPr>
            </a:pPr>
            <a:r>
              <a:t>Perancangan dan evaluasi supervisory agent untuk adaptasi parameter handover pada testbed 5G Standalone.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36208"/>
            <a:ext cx="7315200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ptos Display"/>
              </a:defRPr>
            </a:pPr>
            <a:r>
              <a:t>USULAN TUGAS AKHIR • TEKNIK TELEKOMUNIKASI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41664" y="4279392"/>
            <a:ext cx="2907792" cy="7315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DARI MASALAH</a:t>
            </a:r>
          </a:p>
          <a:p>
            <a:pPr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KE KEPUTUSAN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48056"/>
            <a:ext cx="100584" cy="201168"/>
          </a:xfrm>
          <a:prstGeom prst="rect">
            <a:avLst/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429768"/>
            <a:ext cx="7315200" cy="2377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1">
                <a:solidFill>
                  <a:srgbClr val="007A80"/>
                </a:solidFill>
                <a:latin typeface="Aptos Display"/>
              </a:defRPr>
            </a:pPr>
            <a:r>
              <a:t>MASALAH SEHARI-HARI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804672"/>
            <a:ext cx="11137392" cy="9509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3000" b="1">
                <a:solidFill>
                  <a:srgbClr val="111F2B"/>
                </a:solidFill>
                <a:latin typeface="Aptos Display"/>
              </a:defRPr>
            </a:pPr>
            <a:r>
              <a:t>Satu perpindahan sel, tiga hasil yang mungkin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6492240"/>
            <a:ext cx="11173968" cy="13716"/>
          </a:xfrm>
          <a:prstGeom prst="rect">
            <a:avLst/>
          </a:prstGeom>
          <a:solidFill>
            <a:srgbClr val="E6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43032" y="6556248"/>
            <a:ext cx="1115568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0">
                <a:solidFill>
                  <a:srgbClr val="5C6B6F"/>
                </a:solidFill>
                <a:latin typeface="Aptos"/>
              </a:defRPr>
            </a:pPr>
            <a:r>
              <a:t>02 / 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75688"/>
            <a:ext cx="11045952" cy="45720"/>
          </a:xfrm>
          <a:prstGeom prst="rect">
            <a:avLst/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8408" y="1865376"/>
            <a:ext cx="493776" cy="493776"/>
          </a:xfrm>
          <a:prstGeom prst="roundRect">
            <a:avLst>
              <a:gd name="adj" fmla="val 10000"/>
            </a:avLst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1865376"/>
            <a:ext cx="493776" cy="493776"/>
          </a:xfrm>
          <a:prstGeom prst="roundRect">
            <a:avLst>
              <a:gd name="adj" fmla="val 10000"/>
            </a:avLst>
          </a:prstGeom>
          <a:solidFill>
            <a:srgbClr val="ED7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5328" y="1865376"/>
            <a:ext cx="493776" cy="493776"/>
          </a:xfrm>
          <a:prstGeom prst="roundRect">
            <a:avLst>
              <a:gd name="adj" fmla="val 10000"/>
            </a:avLst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499616"/>
            <a:ext cx="109728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200" b="1">
                <a:solidFill>
                  <a:srgbClr val="007A80"/>
                </a:solidFill>
                <a:latin typeface="Aptos Display"/>
              </a:defRPr>
            </a:pPr>
            <a:r>
              <a:t>SEL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0056" y="1499616"/>
            <a:ext cx="18288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200" b="1">
                <a:solidFill>
                  <a:srgbClr val="ED7158"/>
                </a:solidFill>
                <a:latin typeface="Aptos Display"/>
              </a:defRPr>
            </a:pPr>
            <a:r>
              <a:t>TITIK PINDAH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59568" y="1499616"/>
            <a:ext cx="109728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200" b="1">
                <a:solidFill>
                  <a:srgbClr val="007A80"/>
                </a:solidFill>
                <a:latin typeface="Aptos Display"/>
              </a:defRPr>
            </a:pPr>
            <a:r>
              <a:t>SEL 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752344"/>
            <a:ext cx="3346704" cy="2441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2752344"/>
            <a:ext cx="3346704" cy="91440"/>
          </a:xfrm>
          <a:prstGeom prst="rect">
            <a:avLst/>
          </a:prstGeom>
          <a:solidFill>
            <a:srgbClr val="EFB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2971800"/>
            <a:ext cx="65836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000" b="1">
                <a:solidFill>
                  <a:srgbClr val="EFBF5D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3511296"/>
            <a:ext cx="2944368" cy="38404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111F2B"/>
                </a:solidFill>
                <a:latin typeface="Aptos Display"/>
              </a:defRPr>
            </a:pPr>
            <a:r>
              <a:t>Terlambat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995928"/>
            <a:ext cx="2889504" cy="9326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5C6B6F"/>
                </a:solidFill>
                <a:latin typeface="Aptos"/>
              </a:defRPr>
            </a:pPr>
            <a:r>
              <a:t>UE masih terhubung ke sel A ketika sinyalnya sudah lemah. Video/data dapat terhenti.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6552" y="2752344"/>
            <a:ext cx="3346704" cy="2441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16552" y="2752344"/>
            <a:ext cx="3346704" cy="91440"/>
          </a:xfrm>
          <a:prstGeom prst="rect">
            <a:avLst/>
          </a:prstGeom>
          <a:solidFill>
            <a:srgbClr val="ED7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9432" y="2971800"/>
            <a:ext cx="65836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000" b="1">
                <a:solidFill>
                  <a:srgbClr val="ED7158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2" y="3511296"/>
            <a:ext cx="2944368" cy="38404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111F2B"/>
                </a:solidFill>
                <a:latin typeface="Aptos Display"/>
              </a:defRPr>
            </a:pPr>
            <a:r>
              <a:t>Terlalu sering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3995928"/>
            <a:ext cx="2889504" cy="9326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5C6B6F"/>
                </a:solidFill>
                <a:latin typeface="Aptos"/>
              </a:defRPr>
            </a:pPr>
            <a:r>
              <a:t>UE berpindah A–B–A dalam waktu singkat (ping-pong); proses kontrol berulang.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74736" y="2752344"/>
            <a:ext cx="3346704" cy="2441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74736" y="2752344"/>
            <a:ext cx="3346704" cy="91440"/>
          </a:xfrm>
          <a:prstGeom prst="rect">
            <a:avLst/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7615" y="2971800"/>
            <a:ext cx="65836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000" b="1">
                <a:solidFill>
                  <a:srgbClr val="007A80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5" y="3511296"/>
            <a:ext cx="2944368" cy="38404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111F2B"/>
                </a:solidFill>
                <a:latin typeface="Aptos Display"/>
              </a:defRPr>
            </a:pPr>
            <a:r>
              <a:t>Tepat waktu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7615" y="3995928"/>
            <a:ext cx="2889504" cy="9326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5C6B6F"/>
                </a:solidFill>
                <a:latin typeface="Aptos"/>
              </a:defRPr>
            </a:pPr>
            <a:r>
              <a:t>UE pindah ketika sel B cukup baik, sehingga trafik cepat pulih dan koneksi stabil.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376672"/>
            <a:ext cx="1088136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500" b="1">
                <a:solidFill>
                  <a:srgbClr val="007A80"/>
                </a:solidFill>
                <a:latin typeface="Aptos Display"/>
              </a:defRPr>
            </a:pPr>
            <a:r>
              <a:t>Handover = pemindahan koneksi UE (perangkat pengguna) antar-sel saat bergerak.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815584"/>
            <a:ext cx="10881360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1">
                <a:solidFill>
                  <a:srgbClr val="111F2B"/>
                </a:solidFill>
                <a:latin typeface="Aptos Display"/>
              </a:defRPr>
            </a:pPr>
            <a:r>
              <a:t>Pertanyaan penelitian: bagaimana mengurangi dua skenario buruk tanpa menambah kegagalan pindah sel?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48056"/>
            <a:ext cx="100584" cy="201168"/>
          </a:xfrm>
          <a:prstGeom prst="rect">
            <a:avLst/>
          </a:prstGeom>
          <a:solidFill>
            <a:srgbClr val="C2E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429768"/>
            <a:ext cx="7315200" cy="2377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1">
                <a:solidFill>
                  <a:srgbClr val="C2ECDC"/>
                </a:solidFill>
                <a:latin typeface="Aptos Display"/>
              </a:defRPr>
            </a:pPr>
            <a:r>
              <a:t>MENGAPA TERJADI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804672"/>
            <a:ext cx="11137392" cy="9509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Dua pengatur kecil menciptakan tradeoff besar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6492240"/>
            <a:ext cx="11173968" cy="13716"/>
          </a:xfrm>
          <a:prstGeom prst="rect">
            <a:avLst/>
          </a:prstGeom>
          <a:solidFill>
            <a:srgbClr val="5C6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43032" y="6556248"/>
            <a:ext cx="1115568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0">
                <a:solidFill>
                  <a:srgbClr val="C2ECDC"/>
                </a:solidFill>
                <a:latin typeface="Aptos"/>
              </a:defRPr>
            </a:pPr>
            <a:r>
              <a:t>03 /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02536"/>
            <a:ext cx="4389120" cy="3931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1">
                <a:solidFill>
                  <a:srgbClr val="C2ECDC"/>
                </a:solidFill>
                <a:latin typeface="Aptos Display"/>
              </a:defRPr>
            </a:pPr>
            <a:r>
              <a:t>A3 OFFSET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1384" y="2002536"/>
            <a:ext cx="4297680" cy="3931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1">
                <a:solidFill>
                  <a:srgbClr val="C2ECDC"/>
                </a:solidFill>
                <a:latin typeface="Aptos Display"/>
              </a:defRPr>
            </a:pPr>
            <a:r>
              <a:t>TIME TO TRIGGER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06040"/>
            <a:ext cx="4974336" cy="118872"/>
          </a:xfrm>
          <a:prstGeom prst="rect">
            <a:avLst/>
          </a:prstGeom>
          <a:solidFill>
            <a:srgbClr val="5C6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06040"/>
            <a:ext cx="2231136" cy="118872"/>
          </a:xfrm>
          <a:prstGeom prst="rect">
            <a:avLst/>
          </a:prstGeom>
          <a:solidFill>
            <a:srgbClr val="ED7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97480" y="2450592"/>
            <a:ext cx="365760" cy="429768"/>
          </a:xfrm>
          <a:prstGeom prst="roundRect">
            <a:avLst>
              <a:gd name="adj" fmla="val 10000"/>
            </a:avLst>
          </a:prstGeom>
          <a:solidFill>
            <a:srgbClr val="EFB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2606040"/>
            <a:ext cx="4974336" cy="118872"/>
          </a:xfrm>
          <a:prstGeom prst="rect">
            <a:avLst/>
          </a:prstGeom>
          <a:solidFill>
            <a:srgbClr val="5C6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92240" y="2606040"/>
            <a:ext cx="3419856" cy="118872"/>
          </a:xfrm>
          <a:prstGeom prst="rect">
            <a:avLst/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738360" y="2450592"/>
            <a:ext cx="365760" cy="429768"/>
          </a:xfrm>
          <a:prstGeom prst="roundRect">
            <a:avLst>
              <a:gd name="adj" fmla="val 10000"/>
            </a:avLst>
          </a:prstGeom>
          <a:solidFill>
            <a:srgbClr val="EFB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45536"/>
            <a:ext cx="4754880" cy="4389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Seberapa unggul sel tetangga?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45536"/>
            <a:ext cx="4754880" cy="4389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Berapa lama sinyal harus lebih baik?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5065776" cy="58521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C2ECDC"/>
                </a:solidFill>
                <a:latin typeface="Aptos"/>
              </a:defRPr>
            </a:pPr>
            <a:r>
              <a:t>Event A3 membandingkan kualitas sinyal sel asal dan tetangga. Offset menentukan ambang selisihnya.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57600"/>
            <a:ext cx="5065776" cy="58521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C2ECDC"/>
                </a:solidFill>
                <a:latin typeface="Aptos"/>
              </a:defRPr>
            </a:pPr>
            <a:r>
              <a:t>TTT (time-to-trigger) menahan keputusan hingga selisih sinyal bertahan selama durasi tertentu.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45152"/>
            <a:ext cx="10808208" cy="1207008"/>
          </a:xfrm>
          <a:prstGeom prst="roundRect">
            <a:avLst>
              <a:gd name="adj" fmla="val 10000"/>
            </a:avLst>
          </a:prstGeom>
          <a:solidFill>
            <a:srgbClr val="233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64608"/>
            <a:ext cx="219456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800" b="1">
                <a:solidFill>
                  <a:srgbClr val="ED7158"/>
                </a:solidFill>
                <a:latin typeface="Aptos Display"/>
              </a:defRPr>
            </a:pPr>
            <a:r>
              <a:t>Lebih agresif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76088"/>
            <a:ext cx="448056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respons cepat  •  ping-pong dapat naik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4864608"/>
            <a:ext cx="3291840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800" b="1">
                <a:solidFill>
                  <a:srgbClr val="C2ECDC"/>
                </a:solidFill>
                <a:latin typeface="Aptos Display"/>
              </a:defRPr>
            </a:pPr>
            <a:r>
              <a:t>Lebih konservatif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5276088"/>
            <a:ext cx="475488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ping-pong turun  •  handover dapat terlambat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48056"/>
            <a:ext cx="100584" cy="201168"/>
          </a:xfrm>
          <a:prstGeom prst="rect">
            <a:avLst/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429768"/>
            <a:ext cx="7315200" cy="2377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1">
                <a:solidFill>
                  <a:srgbClr val="007A80"/>
                </a:solidFill>
                <a:latin typeface="Aptos Display"/>
              </a:defRPr>
            </a:pPr>
            <a:r>
              <a:t>HIPOTESIS SOLUSI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804672"/>
            <a:ext cx="11137392" cy="9509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3000" b="1">
                <a:solidFill>
                  <a:srgbClr val="111F2B"/>
                </a:solidFill>
                <a:latin typeface="Aptos Display"/>
              </a:defRPr>
            </a:pPr>
            <a:r>
              <a:t>Agen pengawas menyesuaikan setelan saat konteks berubah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6492240"/>
            <a:ext cx="11173968" cy="13716"/>
          </a:xfrm>
          <a:prstGeom prst="rect">
            <a:avLst/>
          </a:prstGeom>
          <a:solidFill>
            <a:srgbClr val="E6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43032" y="6556248"/>
            <a:ext cx="1115568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0">
                <a:solidFill>
                  <a:srgbClr val="5C6B6F"/>
                </a:solidFill>
                <a:latin typeface="Aptos"/>
              </a:defRPr>
            </a:pPr>
            <a:r>
              <a:t>04 /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12848"/>
            <a:ext cx="10844784" cy="2514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1832" y="2496312"/>
            <a:ext cx="530352" cy="393192"/>
          </a:xfrm>
          <a:prstGeom prst="roundRect">
            <a:avLst>
              <a:gd name="adj" fmla="val 10000"/>
            </a:avLst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569464"/>
            <a:ext cx="438912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136392"/>
            <a:ext cx="22860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000" b="1">
                <a:solidFill>
                  <a:srgbClr val="111F2B"/>
                </a:solidFill>
                <a:latin typeface="Aptos Display"/>
              </a:defRPr>
            </a:pPr>
            <a:r>
              <a:t>Amati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685032"/>
            <a:ext cx="2249424" cy="81381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5C6B6F"/>
                </a:solidFill>
                <a:latin typeface="Aptos"/>
              </a:defRPr>
            </a:pPr>
            <a:r>
              <a:t>Telemetri: log sinyal, handover, dan trafik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2496312"/>
            <a:ext cx="530352" cy="393192"/>
          </a:xfrm>
          <a:prstGeom prst="roundRect">
            <a:avLst>
              <a:gd name="adj" fmla="val 10000"/>
            </a:avLst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59" y="2569464"/>
            <a:ext cx="438912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136392"/>
            <a:ext cx="22860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000" b="1">
                <a:solidFill>
                  <a:srgbClr val="111F2B"/>
                </a:solidFill>
                <a:latin typeface="Aptos Display"/>
              </a:defRPr>
            </a:pPr>
            <a:r>
              <a:t>Usulkan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685032"/>
            <a:ext cx="2249424" cy="81381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5C6B6F"/>
                </a:solidFill>
                <a:latin typeface="Aptos"/>
              </a:defRPr>
            </a:pPr>
            <a:r>
              <a:t>Agen memilih offset / TTT dari opsi terbatas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6248" y="2496312"/>
            <a:ext cx="530352" cy="393192"/>
          </a:xfrm>
          <a:prstGeom prst="roundRect">
            <a:avLst>
              <a:gd name="adj" fmla="val 10000"/>
            </a:avLst>
          </a:prstGeom>
          <a:solidFill>
            <a:srgbClr val="ED7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569464"/>
            <a:ext cx="438912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3136392"/>
            <a:ext cx="22860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000" b="1">
                <a:solidFill>
                  <a:srgbClr val="111F2B"/>
                </a:solidFill>
                <a:latin typeface="Aptos Display"/>
              </a:defRPr>
            </a:pPr>
            <a:r>
              <a:t>Validasi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3685032"/>
            <a:ext cx="2249424" cy="81381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5C6B6F"/>
                </a:solidFill>
                <a:latin typeface="Aptos"/>
              </a:defRPr>
            </a:pPr>
            <a:r>
              <a:t>Aturan deterministik menolak nilai tidak aman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0576" y="2496312"/>
            <a:ext cx="530352" cy="393192"/>
          </a:xfrm>
          <a:prstGeom prst="roundRect">
            <a:avLst>
              <a:gd name="adj" fmla="val 10000"/>
            </a:avLst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6296" y="2569464"/>
            <a:ext cx="438912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3136392"/>
            <a:ext cx="22860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000" b="1">
                <a:solidFill>
                  <a:srgbClr val="111F2B"/>
                </a:solidFill>
                <a:latin typeface="Aptos Display"/>
              </a:defRPr>
            </a:pPr>
            <a:r>
              <a:t>Pantau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3685032"/>
            <a:ext cx="2249424" cy="81381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5C6B6F"/>
                </a:solidFill>
                <a:latin typeface="Aptos"/>
              </a:defRPr>
            </a:pPr>
            <a:r>
              <a:t>Ukur hasil; rollback jika kinerja memburuk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6976" y="3218688"/>
            <a:ext cx="347472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200" b="1">
                <a:solidFill>
                  <a:srgbClr val="007A80"/>
                </a:solidFill>
                <a:latin typeface="Aptos Display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44184" y="3218688"/>
            <a:ext cx="347472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200" b="1">
                <a:solidFill>
                  <a:srgbClr val="007A80"/>
                </a:solidFill>
                <a:latin typeface="Aptos Display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87384" y="3218688"/>
            <a:ext cx="347472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200" b="1">
                <a:solidFill>
                  <a:srgbClr val="007A80"/>
                </a:solidFill>
                <a:latin typeface="Aptos Display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" y="5248656"/>
            <a:ext cx="10698480" cy="7498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111F2B"/>
                </a:solidFill>
                <a:latin typeface="Aptos Display"/>
              </a:defRPr>
            </a:pPr>
            <a:r>
              <a:t>Supervisory berarti agen meninjau tren secara berkala; keputusan handover langsung tetap dijalankan oleh RAN.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48056"/>
            <a:ext cx="100584" cy="201168"/>
          </a:xfrm>
          <a:prstGeom prst="rect">
            <a:avLst/>
          </a:prstGeom>
          <a:solidFill>
            <a:srgbClr val="C2E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429768"/>
            <a:ext cx="7315200" cy="2377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1">
                <a:solidFill>
                  <a:srgbClr val="C2ECDC"/>
                </a:solidFill>
                <a:latin typeface="Aptos Display"/>
              </a:defRPr>
            </a:pPr>
            <a:r>
              <a:t>RANCANGAN TESTBED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804672"/>
            <a:ext cx="11137392" cy="9509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Empat komponen yang harus bekerja bersama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6492240"/>
            <a:ext cx="11173968" cy="13716"/>
          </a:xfrm>
          <a:prstGeom prst="rect">
            <a:avLst/>
          </a:prstGeom>
          <a:solidFill>
            <a:srgbClr val="5C6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43032" y="6556248"/>
            <a:ext cx="1115568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0">
                <a:solidFill>
                  <a:srgbClr val="C2ECDC"/>
                </a:solidFill>
                <a:latin typeface="Aptos"/>
              </a:defRPr>
            </a:pPr>
            <a:r>
              <a:t>05 /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67128"/>
            <a:ext cx="2395728" cy="2450592"/>
          </a:xfrm>
          <a:prstGeom prst="roundRect">
            <a:avLst>
              <a:gd name="adj" fmla="val 10000"/>
            </a:avLst>
          </a:prstGeom>
          <a:solidFill>
            <a:srgbClr val="233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2167128"/>
            <a:ext cx="2395728" cy="118872"/>
          </a:xfrm>
          <a:prstGeom prst="rect">
            <a:avLst/>
          </a:prstGeom>
          <a:solidFill>
            <a:srgbClr val="C2E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95728"/>
            <a:ext cx="20574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200" b="1">
                <a:solidFill>
                  <a:srgbClr val="C2ECDC"/>
                </a:solidFill>
                <a:latin typeface="Aptos Display"/>
              </a:defRPr>
            </a:pPr>
            <a:r>
              <a:t>CORE 5G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935224"/>
            <a:ext cx="2066543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Open5GS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666744"/>
            <a:ext cx="205740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300" b="0">
                <a:solidFill>
                  <a:srgbClr val="C2ECDC"/>
                </a:solidFill>
                <a:latin typeface="Aptos"/>
              </a:defRPr>
            </a:pPr>
            <a:r>
              <a:t>Mengelola sesi dan koneksi data 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167128"/>
            <a:ext cx="2395728" cy="2450592"/>
          </a:xfrm>
          <a:prstGeom prst="roundRect">
            <a:avLst>
              <a:gd name="adj" fmla="val 10000"/>
            </a:avLst>
          </a:prstGeom>
          <a:solidFill>
            <a:srgbClr val="233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2167128"/>
            <a:ext cx="2395728" cy="118872"/>
          </a:xfrm>
          <a:prstGeom prst="rect">
            <a:avLst/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2395728"/>
            <a:ext cx="20574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200" b="1">
                <a:solidFill>
                  <a:srgbClr val="007A80"/>
                </a:solidFill>
                <a:latin typeface="Aptos Display"/>
              </a:defRPr>
            </a:pPr>
            <a:r>
              <a:t>RADIO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935224"/>
            <a:ext cx="2066543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Dua sel RAN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3666744"/>
            <a:ext cx="205740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300" b="0">
                <a:solidFill>
                  <a:srgbClr val="C2ECDC"/>
                </a:solidFill>
                <a:latin typeface="Aptos"/>
              </a:defRPr>
            </a:pPr>
            <a:r>
              <a:t>Menyediakan sinyal dan prosedur pindah sel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2167128"/>
            <a:ext cx="2395728" cy="2450592"/>
          </a:xfrm>
          <a:prstGeom prst="roundRect">
            <a:avLst>
              <a:gd name="adj" fmla="val 10000"/>
            </a:avLst>
          </a:prstGeom>
          <a:solidFill>
            <a:srgbClr val="233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27648" y="2167128"/>
            <a:ext cx="2395728" cy="118872"/>
          </a:xfrm>
          <a:prstGeom prst="rect">
            <a:avLst/>
          </a:prstGeom>
          <a:solidFill>
            <a:srgbClr val="EFB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395728"/>
            <a:ext cx="20574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200" b="1">
                <a:solidFill>
                  <a:srgbClr val="EFBF5D"/>
                </a:solidFill>
                <a:latin typeface="Aptos Display"/>
              </a:defRPr>
            </a:pPr>
            <a:r>
              <a:t>PENGGUNA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35224"/>
            <a:ext cx="2066543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UE + trafik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666744"/>
            <a:ext cx="205740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300" b="0">
                <a:solidFill>
                  <a:srgbClr val="C2ECDC"/>
                </a:solidFill>
                <a:latin typeface="Aptos"/>
              </a:defRPr>
            </a:pPr>
            <a:r>
              <a:t>Ponsel bergerak sambil mengirim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0576" y="2167128"/>
            <a:ext cx="2395728" cy="2450592"/>
          </a:xfrm>
          <a:prstGeom prst="roundRect">
            <a:avLst>
              <a:gd name="adj" fmla="val 10000"/>
            </a:avLst>
          </a:prstGeom>
          <a:solidFill>
            <a:srgbClr val="233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0576" y="2167128"/>
            <a:ext cx="2395728" cy="118872"/>
          </a:xfrm>
          <a:prstGeom prst="rect">
            <a:avLst/>
          </a:prstGeom>
          <a:solidFill>
            <a:srgbClr val="ED7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45167" y="2395728"/>
            <a:ext cx="20574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200" b="1">
                <a:solidFill>
                  <a:srgbClr val="ED7158"/>
                </a:solidFill>
                <a:latin typeface="Aptos Display"/>
              </a:defRPr>
            </a:pPr>
            <a:r>
              <a:t>PENGAWAS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7" y="2935224"/>
            <a:ext cx="2066543" cy="5943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Agen + validator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7" y="3666744"/>
            <a:ext cx="2057400" cy="7132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300" b="0">
                <a:solidFill>
                  <a:srgbClr val="C2ECDC"/>
                </a:solidFill>
                <a:latin typeface="Aptos"/>
              </a:defRPr>
            </a:pPr>
            <a:r>
              <a:t>Mengusulkan lalu menyaring perubahan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3108960"/>
            <a:ext cx="338328" cy="4389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100" b="1">
                <a:solidFill>
                  <a:srgbClr val="C2ECDC"/>
                </a:solidFill>
                <a:latin typeface="Aptos Display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16168" y="3108960"/>
            <a:ext cx="338328" cy="4389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100" b="1">
                <a:solidFill>
                  <a:srgbClr val="C2ECDC"/>
                </a:solidFill>
                <a:latin typeface="Aptos Display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69096" y="3108960"/>
            <a:ext cx="338328" cy="4389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100" b="1">
                <a:solidFill>
                  <a:srgbClr val="C2ECDC"/>
                </a:solidFill>
                <a:latin typeface="Aptos Display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" y="5102352"/>
            <a:ext cx="10954512" cy="594360"/>
          </a:xfrm>
          <a:prstGeom prst="roundRect">
            <a:avLst>
              <a:gd name="adj" fmla="val 10000"/>
            </a:avLst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276088"/>
            <a:ext cx="10515600" cy="2743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 Display"/>
              </a:defRPr>
            </a:pPr>
            <a:r>
              <a:t>Gerbang kelayakan: handover standar stabil → telemetri tersedia → jalur kontrol parameter terverifikasi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48056"/>
            <a:ext cx="100584" cy="201168"/>
          </a:xfrm>
          <a:prstGeom prst="rect">
            <a:avLst/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429768"/>
            <a:ext cx="7315200" cy="2377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1">
                <a:solidFill>
                  <a:srgbClr val="007A80"/>
                </a:solidFill>
                <a:latin typeface="Aptos Display"/>
              </a:defRPr>
            </a:pPr>
            <a:r>
              <a:t>ASPEK TEKNIK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804672"/>
            <a:ext cx="11137392" cy="9509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3000" b="1">
                <a:solidFill>
                  <a:srgbClr val="111F2B"/>
                </a:solidFill>
                <a:latin typeface="Aptos Display"/>
              </a:defRPr>
            </a:pPr>
            <a:r>
              <a:t>Keberhasilan TA ditentukan oleh empat bukti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6492240"/>
            <a:ext cx="11173968" cy="13716"/>
          </a:xfrm>
          <a:prstGeom prst="rect">
            <a:avLst/>
          </a:prstGeom>
          <a:solidFill>
            <a:srgbClr val="E6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43032" y="6556248"/>
            <a:ext cx="1115568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0">
                <a:solidFill>
                  <a:srgbClr val="5C6B6F"/>
                </a:solidFill>
                <a:latin typeface="Aptos"/>
              </a:defRPr>
            </a:pPr>
            <a:r>
              <a:t>06 /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02536"/>
            <a:ext cx="5148072" cy="1527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203704"/>
            <a:ext cx="594360" cy="38404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100" b="1">
                <a:solidFill>
                  <a:srgbClr val="007A80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185416"/>
            <a:ext cx="4133087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800" b="1">
                <a:solidFill>
                  <a:srgbClr val="111F2B"/>
                </a:solidFill>
                <a:latin typeface="Aptos Display"/>
              </a:defRPr>
            </a:pPr>
            <a:r>
              <a:t>Handover berulang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633472"/>
            <a:ext cx="4041648" cy="7680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5C6B6F"/>
                </a:solidFill>
                <a:latin typeface="Aptos"/>
              </a:defRPr>
            </a:pPr>
            <a:r>
              <a:t>UE harus bisa pindah sel berkali-kali; setiap keberhasilan dan kegagalan tercatat.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2002536"/>
            <a:ext cx="5148072" cy="1527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2203704"/>
            <a:ext cx="594360" cy="38404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100" b="1">
                <a:solidFill>
                  <a:srgbClr val="007A80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1736" y="2185416"/>
            <a:ext cx="4133087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800" b="1">
                <a:solidFill>
                  <a:srgbClr val="111F2B"/>
                </a:solidFill>
                <a:latin typeface="Aptos Display"/>
              </a:defRPr>
            </a:pPr>
            <a:r>
              <a:t>Data dapat dipercaya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633472"/>
            <a:ext cx="4041648" cy="7680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5C6B6F"/>
                </a:solidFill>
                <a:latin typeface="Aptos"/>
              </a:defRPr>
            </a:pPr>
            <a:r>
              <a:t>RLF = radio link failure (sambungan radio gagal). Log sinyal dan trafik harus selaras waktu.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685032"/>
            <a:ext cx="5148072" cy="1527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886200"/>
            <a:ext cx="594360" cy="38404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100" b="1">
                <a:solidFill>
                  <a:srgbClr val="007A80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867912"/>
            <a:ext cx="4133087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800" b="1">
                <a:solidFill>
                  <a:srgbClr val="111F2B"/>
                </a:solidFill>
                <a:latin typeface="Aptos Display"/>
              </a:defRPr>
            </a:pPr>
            <a:r>
              <a:t>Aksi aman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315968"/>
            <a:ext cx="4041648" cy="7680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5C6B6F"/>
                </a:solidFill>
                <a:latin typeface="Aptos"/>
              </a:defRPr>
            </a:pPr>
            <a:r>
              <a:t>Validator membatasi nilai. Fallback memakai setelan awal; rollback mengembalikan setelan sebelumnya.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685032"/>
            <a:ext cx="5148072" cy="1527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3886200"/>
            <a:ext cx="594360" cy="38404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100" b="1">
                <a:solidFill>
                  <a:srgbClr val="007A80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1736" y="3867912"/>
            <a:ext cx="4133087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800" b="1">
                <a:solidFill>
                  <a:srgbClr val="111F2B"/>
                </a:solidFill>
                <a:latin typeface="Aptos Display"/>
              </a:defRPr>
            </a:pPr>
            <a:r>
              <a:t>Efek terukur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1736" y="4315968"/>
            <a:ext cx="4041648" cy="7680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5C6B6F"/>
                </a:solidFill>
                <a:latin typeface="Aptos"/>
              </a:defRPr>
            </a:pPr>
            <a:r>
              <a:t>Lintasan, UE, trafik, dan durasi uji dibuat sama agar perubahan kinerja dapat dibandingkan.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48056"/>
            <a:ext cx="100584" cy="201168"/>
          </a:xfrm>
          <a:prstGeom prst="rect">
            <a:avLst/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429768"/>
            <a:ext cx="7315200" cy="2377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1">
                <a:solidFill>
                  <a:srgbClr val="007A80"/>
                </a:solidFill>
                <a:latin typeface="Aptos Display"/>
              </a:defRPr>
            </a:pPr>
            <a:r>
              <a:t>ASPEK NONTEKNIK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804672"/>
            <a:ext cx="11137392" cy="9509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3000" b="1">
                <a:solidFill>
                  <a:srgbClr val="111F2B"/>
                </a:solidFill>
                <a:latin typeface="Aptos Display"/>
              </a:defRPr>
            </a:pPr>
            <a:r>
              <a:t>Kelayakan juga bergantung pada biaya dan tata kelola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6492240"/>
            <a:ext cx="11173968" cy="13716"/>
          </a:xfrm>
          <a:prstGeom prst="rect">
            <a:avLst/>
          </a:prstGeom>
          <a:solidFill>
            <a:srgbClr val="E6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43032" y="6556248"/>
            <a:ext cx="1115568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0">
                <a:solidFill>
                  <a:srgbClr val="5C6B6F"/>
                </a:solidFill>
                <a:latin typeface="Aptos"/>
              </a:defRPr>
            </a:pPr>
            <a:r>
              <a:t>07 /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65960"/>
            <a:ext cx="5138928" cy="15727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965960"/>
            <a:ext cx="109728" cy="1572768"/>
          </a:xfrm>
          <a:prstGeom prst="rect">
            <a:avLst/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148840"/>
            <a:ext cx="44805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000" b="1">
                <a:solidFill>
                  <a:srgbClr val="111F2B"/>
                </a:solidFill>
                <a:latin typeface="Aptos Display"/>
              </a:defRPr>
            </a:pPr>
            <a:r>
              <a:t>Biaya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624328"/>
            <a:ext cx="4507992" cy="7955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5C6B6F"/>
                </a:solidFill>
                <a:latin typeface="Aptos"/>
              </a:defRPr>
            </a:pPr>
            <a:r>
              <a:t>Model berbasis API dikenai biaya per pemakaian; interval analisis perlu dibatasi dan dicatat.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1" y="1965960"/>
            <a:ext cx="5138928" cy="15727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1" y="1965960"/>
            <a:ext cx="109728" cy="1572768"/>
          </a:xfrm>
          <a:prstGeom prst="rect">
            <a:avLst/>
          </a:prstGeom>
          <a:solidFill>
            <a:srgbClr val="EFB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5" y="2148840"/>
            <a:ext cx="44805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000" b="1">
                <a:solidFill>
                  <a:srgbClr val="111F2B"/>
                </a:solidFill>
                <a:latin typeface="Aptos Display"/>
              </a:defRPr>
            </a:pPr>
            <a:r>
              <a:t>Privasi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5" y="2624328"/>
            <a:ext cx="4507992" cy="7955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5C6B6F"/>
                </a:solidFill>
                <a:latin typeface="Aptos"/>
              </a:defRPr>
            </a:pPr>
            <a:r>
              <a:t>Kirim hanya ringkasan kondisi radio; identitas UE dan kunci API dijaga di sistem lokal.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685031"/>
            <a:ext cx="5138928" cy="15727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685031"/>
            <a:ext cx="109728" cy="1572768"/>
          </a:xfrm>
          <a:prstGeom prst="rect">
            <a:avLst/>
          </a:prstGeom>
          <a:solidFill>
            <a:srgbClr val="ED7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867911"/>
            <a:ext cx="44805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000" b="1">
                <a:solidFill>
                  <a:srgbClr val="111F2B"/>
                </a:solidFill>
                <a:latin typeface="Aptos Display"/>
              </a:defRPr>
            </a:pPr>
            <a:r>
              <a:t>Ketergantungan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4343399"/>
            <a:ext cx="4507992" cy="7955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5C6B6F"/>
                </a:solidFill>
                <a:latin typeface="Aptos"/>
              </a:defRPr>
            </a:pPr>
            <a:r>
              <a:t>Jika jaringan/API gagal atau lambat, RAN tetap berjalan memakai konfigurasi baseline.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1" y="3685031"/>
            <a:ext cx="5138928" cy="15727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1" y="3685031"/>
            <a:ext cx="109728" cy="1572768"/>
          </a:xfrm>
          <a:prstGeom prst="rect">
            <a:avLst/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5" y="3867911"/>
            <a:ext cx="44805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000" b="1">
                <a:solidFill>
                  <a:srgbClr val="111F2B"/>
                </a:solidFill>
                <a:latin typeface="Aptos Display"/>
              </a:defRPr>
            </a:pPr>
            <a:r>
              <a:t>Kapasitas 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5" y="4343399"/>
            <a:ext cx="4507992" cy="7955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5C6B6F"/>
                </a:solidFill>
                <a:latin typeface="Aptos"/>
              </a:defRPr>
            </a:pPr>
            <a:r>
              <a:t>Perangkat SDR, UE, dan waktu pengujian terbatas; jadwal dan prosedur uji perlu konsisten.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48056"/>
            <a:ext cx="100584" cy="201168"/>
          </a:xfrm>
          <a:prstGeom prst="rect">
            <a:avLst/>
          </a:prstGeom>
          <a:solidFill>
            <a:srgbClr val="C2E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429768"/>
            <a:ext cx="7315200" cy="2377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1">
                <a:solidFill>
                  <a:srgbClr val="C2ECDC"/>
                </a:solidFill>
                <a:latin typeface="Aptos Display"/>
              </a:defRPr>
            </a:pPr>
            <a:r>
              <a:t>EVALUASI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804672"/>
            <a:ext cx="11137392" cy="9509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Ukur dampak jaringan dan perilaku agen secara terpisah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6492240"/>
            <a:ext cx="11173968" cy="13716"/>
          </a:xfrm>
          <a:prstGeom prst="rect">
            <a:avLst/>
          </a:prstGeom>
          <a:solidFill>
            <a:srgbClr val="5C6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43032" y="6556248"/>
            <a:ext cx="1115568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0">
                <a:solidFill>
                  <a:srgbClr val="C2ECDC"/>
                </a:solidFill>
                <a:latin typeface="Aptos"/>
              </a:defRPr>
            </a:pPr>
            <a:r>
              <a:t>08 /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02536"/>
            <a:ext cx="5230368" cy="3191256"/>
          </a:xfrm>
          <a:prstGeom prst="roundRect">
            <a:avLst>
              <a:gd name="adj" fmla="val 10000"/>
            </a:avLst>
          </a:prstGeom>
          <a:solidFill>
            <a:srgbClr val="233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9632" y="2002536"/>
            <a:ext cx="5230368" cy="3191256"/>
          </a:xfrm>
          <a:prstGeom prst="roundRect">
            <a:avLst>
              <a:gd name="adj" fmla="val 10000"/>
            </a:avLst>
          </a:prstGeom>
          <a:solidFill>
            <a:srgbClr val="233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1920240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3200" b="1">
                <a:solidFill>
                  <a:srgbClr val="C2ECDC"/>
                </a:solidFill>
                <a:latin typeface="Aptos Display"/>
              </a:defRPr>
            </a:pPr>
            <a:r>
              <a:t>A /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98648"/>
            <a:ext cx="4562856" cy="10515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Baseline A3 statis</a:t>
            </a:r>
          </a:p>
          <a:p>
            <a:pPr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vs. supervisory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70248"/>
            <a:ext cx="4498848" cy="6217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C2ECDC"/>
                </a:solidFill>
                <a:latin typeface="Aptos"/>
              </a:defRPr>
            </a:pPr>
            <a:r>
              <a:t>Baseline = parameter A3 tetap. Agen = usulan adaptasi setelah membaca kondisi jaringan.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258568"/>
            <a:ext cx="3566160" cy="3931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800" b="1">
                <a:solidFill>
                  <a:srgbClr val="EFBF5D"/>
                </a:solidFill>
                <a:latin typeface="Aptos Display"/>
              </a:defRPr>
            </a:pPr>
            <a:r>
              <a:t>DUA LENSA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788920"/>
            <a:ext cx="192024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Jaringan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182112"/>
            <a:ext cx="4553712" cy="87782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300" b="0">
                <a:solidFill>
                  <a:srgbClr val="C2ECDC"/>
                </a:solidFill>
                <a:latin typeface="Aptos"/>
              </a:defRPr>
            </a:pPr>
            <a:r>
              <a:t>HO = handover; ping-pong = kembali ke sel asal; RLF = sambungan radio gagal. Ukur juga throughput dan waktu trafik pulih.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4096512"/>
            <a:ext cx="192024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Agen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462272"/>
            <a:ext cx="4590288" cy="63093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300" b="0">
                <a:solidFill>
                  <a:srgbClr val="C2ECDC"/>
                </a:solidFill>
                <a:latin typeface="Aptos"/>
              </a:defRPr>
            </a:pPr>
            <a:r>
              <a:t>Apakah usulan lolos validator? Berapa lama respons API, biayanya, dan apakah rollback berhasil?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5669280"/>
            <a:ext cx="10780776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Jika kontrol dinamis belum tersedia, evaluasi dibatasi pada rekomendasi offline.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" y="448056"/>
            <a:ext cx="100584" cy="201168"/>
          </a:xfrm>
          <a:prstGeom prst="rect">
            <a:avLst/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429768"/>
            <a:ext cx="7315200" cy="23774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1">
                <a:solidFill>
                  <a:srgbClr val="007A80"/>
                </a:solidFill>
                <a:latin typeface="Aptos Display"/>
              </a:defRPr>
            </a:pPr>
            <a:r>
              <a:t>PENUTUP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804672"/>
            <a:ext cx="11137392" cy="9509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3000" b="1">
                <a:solidFill>
                  <a:srgbClr val="111F2B"/>
                </a:solidFill>
                <a:latin typeface="Aptos Display"/>
              </a:defRPr>
            </a:pPr>
            <a:r>
              <a:t>Dari keputusan reaktif menuju pengawasan yang terukur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6492240"/>
            <a:ext cx="11173968" cy="13716"/>
          </a:xfrm>
          <a:prstGeom prst="rect">
            <a:avLst/>
          </a:prstGeom>
          <a:solidFill>
            <a:srgbClr val="E6E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43032" y="6556248"/>
            <a:ext cx="1115568" cy="1828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0">
                <a:solidFill>
                  <a:srgbClr val="5C6B6F"/>
                </a:solidFill>
                <a:latin typeface="Aptos"/>
              </a:defRPr>
            </a:pPr>
            <a:r>
              <a:t>09 /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066543"/>
            <a:ext cx="1097280" cy="64922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3300" b="1">
                <a:solidFill>
                  <a:srgbClr val="007A80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30552"/>
            <a:ext cx="310896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100" b="1">
                <a:solidFill>
                  <a:srgbClr val="111F2B"/>
                </a:solidFill>
                <a:latin typeface="Aptos Display"/>
              </a:defRPr>
            </a:pPr>
            <a:r>
              <a:t>Buktikan testbed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66543"/>
            <a:ext cx="1097280" cy="64922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3300" b="1">
                <a:solidFill>
                  <a:srgbClr val="007A80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3248" y="2130552"/>
            <a:ext cx="301752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100" b="1">
                <a:solidFill>
                  <a:srgbClr val="111F2B"/>
                </a:solidFill>
                <a:latin typeface="Aptos Display"/>
              </a:defRPr>
            </a:pPr>
            <a:r>
              <a:t>Bangun agen aman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66543"/>
            <a:ext cx="1097280" cy="64922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3300" b="1">
                <a:solidFill>
                  <a:srgbClr val="007A80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130552"/>
            <a:ext cx="2468880" cy="4572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100" b="1">
                <a:solidFill>
                  <a:srgbClr val="111F2B"/>
                </a:solidFill>
                <a:latin typeface="Aptos Display"/>
              </a:defRPr>
            </a:pPr>
            <a:r>
              <a:t>Ukur dampak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054096"/>
            <a:ext cx="10872216" cy="832104"/>
          </a:xfrm>
          <a:prstGeom prst="roundRect">
            <a:avLst>
              <a:gd name="adj" fmla="val 10000"/>
            </a:avLst>
          </a:prstGeom>
          <a:solidFill>
            <a:srgbClr val="00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273552"/>
            <a:ext cx="10378440" cy="3931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Kontribusi: metode adaptasi parameter handover yang memiliki batas aksi, bukti kinerja, dan batas penerapan.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07408"/>
            <a:ext cx="301752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600" b="1">
                <a:solidFill>
                  <a:srgbClr val="111F2B"/>
                </a:solidFill>
                <a:latin typeface="Aptos Display"/>
              </a:defRPr>
            </a:pPr>
            <a:r>
              <a:t>Rujukan ilmiah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4809744"/>
            <a:ext cx="10424160" cy="106070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0">
                <a:solidFill>
                  <a:srgbClr val="5C6B6F"/>
                </a:solidFill>
                <a:latin typeface="Aptos"/>
              </a:defRPr>
            </a:pPr>
            <a:r>
              <a:t>Mollel et al., IEEE Access (2021)  •  10.1109/ACCESS.2021.3067503</a:t>
            </a:r>
          </a:p>
          <a:p>
            <a:pPr>
              <a:defRPr sz="1100" b="0">
                <a:solidFill>
                  <a:srgbClr val="5C6B6F"/>
                </a:solidFill>
                <a:latin typeface="Aptos"/>
              </a:defRPr>
            </a:pPr>
            <a:r>
              <a:t>Polese et al., IEEE ComST (2023)  •  10.1109/COMST.2023.3239220</a:t>
            </a:r>
          </a:p>
          <a:p>
            <a:pPr>
              <a:defRPr sz="1100" b="0">
                <a:solidFill>
                  <a:srgbClr val="5C6B6F"/>
                </a:solidFill>
                <a:latin typeface="Aptos"/>
              </a:defRPr>
            </a:pPr>
            <a:r>
              <a:t>Dzaferagic et al., IEEE TNSM (2025)  •  10.1109/TNSM.2024.3468910</a:t>
            </a:r>
          </a:p>
          <a:p>
            <a:pPr>
              <a:defRPr sz="1100" b="0">
                <a:solidFill>
                  <a:srgbClr val="5C6B6F"/>
                </a:solidFill>
                <a:latin typeface="Aptos"/>
              </a:defRPr>
            </a:pPr>
            <a:r>
              <a:t>Wang et al., Frontiers of Computer Science (2024)  •  10.1007/s11704-024-40231-1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